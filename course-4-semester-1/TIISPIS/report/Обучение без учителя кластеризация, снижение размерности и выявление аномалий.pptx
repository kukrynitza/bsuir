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80"/>
            <a:ext cx="10566400" cy="445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7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B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92580"/>
            <a:ext cx="10566400" cy="445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179324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Обучение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без учителя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12800" y="3540760"/>
            <a:ext cx="588645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8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Кластеризация, снижение размерности и выявление аномалий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457708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EB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[Фамилия Имя, группа]</a:t>
            </a:r>
            <a:endParaRPr lang="en-US" sz="1600" dirty="0"/>
          </a:p>
        </p:txBody>
      </p:sp>
      <p:pic>
        <p:nvPicPr>
          <p:cNvPr id="8" name="Image 0" descr="Три группы точек и их центры">    </p:cNvPr>
          <p:cNvPicPr>
            <a:picLocks noChangeAspect="1"/>
          </p:cNvPicPr>
          <p:nvPr/>
        </p:nvPicPr>
        <p:blipFill>
          <a:blip r:embed="rId1"/>
          <a:srcRect l="0" r="0" t="-314" b="-314"/>
          <a:stretch/>
        </p:blipFill>
        <p:spPr>
          <a:xfrm>
            <a:off x="6477000" y="952500"/>
            <a:ext cx="4953000" cy="4953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04400" y="6238240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C6EBE8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Что такое обучение без учителя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80"/>
            <a:ext cx="5181600" cy="1671320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541780"/>
            <a:ext cx="5181600" cy="1671320"/>
          </a:xfrm>
          <a:custGeom>
            <a:avLst/>
            <a:gdLst/>
            <a:ahLst/>
            <a:cxnLst/>
            <a:rect l="l" t="t" r="r" b="b"/>
            <a:pathLst>
              <a:path w="5181600" h="1671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821180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учителем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1400" y="2184400"/>
            <a:ext cx="486613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данные X и правильные ответы y. Модель учится предсказывать y: классификация и регрессия.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7600" y="1541780"/>
            <a:ext cx="5181600" cy="1671320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97600" y="1541780"/>
            <a:ext cx="5181600" cy="1671320"/>
          </a:xfrm>
          <a:custGeom>
            <a:avLst/>
            <a:gdLst/>
            <a:ahLst/>
            <a:cxnLst/>
            <a:rect l="l" t="t" r="r" b="b"/>
            <a:pathLst>
              <a:path w="5181600" h="1671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26200" y="1821180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учителя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26200" y="2184400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только X. Модель ищет скрытую структуру: группы, компактное представление, выбросы.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34671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дорогая и долгая, а неразмеченных данных очень много.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04400" y="6238241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7D4C6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Три задачи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80"/>
            <a:ext cx="3386614" cy="2506345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541780"/>
            <a:ext cx="3386614" cy="2506345"/>
          </a:xfrm>
          <a:custGeom>
            <a:avLst/>
            <a:gdLst/>
            <a:ahLst/>
            <a:cxnLst/>
            <a:rect l="l" t="t" r="r" b="b"/>
            <a:pathLst>
              <a:path w="3386614" h="2506345">
                <a:moveTo>
                  <a:pt x="3386614" y="2379345"/>
                </a:moveTo>
                <a:lnTo>
                  <a:pt x="3386614" y="2379345"/>
                </a:lnTo>
                <a:arcTo hR="127000" wR="127000" stAng="0" swAng="5400000"/>
                <a:lnTo>
                  <a:pt x="127000" y="2506345"/>
                </a:lnTo>
                <a:arcTo hR="127000" wR="127000" stAng="5400000" swAng="5400000"/>
                <a:lnTo>
                  <a:pt x="0" y="2379345"/>
                </a:lnTo>
                <a:arcTo hR="63500" wR="127000" stAng="10800000" swAng="-5400000"/>
                <a:lnTo>
                  <a:pt x="3259614" y="2442845"/>
                </a:lnTo>
                <a:arcTo hR="63500" wR="127000" stAng="54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795780"/>
            <a:ext cx="296497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D958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01</a:t>
            </a:r>
            <a:endParaRPr lang="en-US" sz="5500" dirty="0"/>
          </a:p>
        </p:txBody>
      </p:sp>
      <p:sp>
        <p:nvSpPr>
          <p:cNvPr id="9" name="Text 7"/>
          <p:cNvSpPr/>
          <p:nvPr/>
        </p:nvSpPr>
        <p:spPr>
          <a:xfrm>
            <a:off x="1066800" y="2583180"/>
            <a:ext cx="2964972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Кластеризация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6800" y="2961641"/>
            <a:ext cx="296497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какие группы похожих объектов разбить данные?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02614" y="1541780"/>
            <a:ext cx="3386693" cy="2506345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614" y="1541780"/>
            <a:ext cx="3386693" cy="2506345"/>
          </a:xfrm>
          <a:custGeom>
            <a:avLst/>
            <a:gdLst/>
            <a:ahLst/>
            <a:cxnLst/>
            <a:rect l="l" t="t" r="r" b="b"/>
            <a:pathLst>
              <a:path w="3386693" h="2506345">
                <a:moveTo>
                  <a:pt x="3386693" y="2379345"/>
                </a:moveTo>
                <a:lnTo>
                  <a:pt x="3386693" y="2379345"/>
                </a:lnTo>
                <a:arcTo hR="127000" wR="127000" stAng="0" swAng="5400000"/>
                <a:lnTo>
                  <a:pt x="127000" y="2506345"/>
                </a:lnTo>
                <a:arcTo hR="127000" wR="127000" stAng="5400000" swAng="5400000"/>
                <a:lnTo>
                  <a:pt x="0" y="2379345"/>
                </a:lnTo>
                <a:arcTo hR="63500" wR="127000" stAng="10800000" swAng="-5400000"/>
                <a:lnTo>
                  <a:pt x="3259693" y="2442845"/>
                </a:lnTo>
                <a:arcTo hR="63500" wR="127000" stAng="54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3" name="Text 11"/>
          <p:cNvSpPr/>
          <p:nvPr/>
        </p:nvSpPr>
        <p:spPr>
          <a:xfrm>
            <a:off x="4656614" y="1795780"/>
            <a:ext cx="296505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1F6F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02</a:t>
            </a:r>
            <a:endParaRPr lang="en-US" sz="5500" dirty="0"/>
          </a:p>
        </p:txBody>
      </p:sp>
      <p:sp>
        <p:nvSpPr>
          <p:cNvPr id="14" name="Text 12"/>
          <p:cNvSpPr/>
          <p:nvPr/>
        </p:nvSpPr>
        <p:spPr>
          <a:xfrm>
            <a:off x="4656614" y="2583180"/>
            <a:ext cx="3132693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размерности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56614" y="2961641"/>
            <a:ext cx="296505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описать объект меньшим числом признаков, сохранив суть?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92507" y="1541780"/>
            <a:ext cx="3386693" cy="2506345"/>
          </a:xfrm>
          <a:prstGeom prst="roundRect">
            <a:avLst>
              <a:gd name="adj" fmla="val 50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92507" y="1541780"/>
            <a:ext cx="3386693" cy="2506345"/>
          </a:xfrm>
          <a:custGeom>
            <a:avLst/>
            <a:gdLst/>
            <a:ahLst/>
            <a:cxnLst/>
            <a:rect l="l" t="t" r="r" b="b"/>
            <a:pathLst>
              <a:path w="3386693" h="2506345">
                <a:moveTo>
                  <a:pt x="3386693" y="2379345"/>
                </a:moveTo>
                <a:lnTo>
                  <a:pt x="3386693" y="2379345"/>
                </a:lnTo>
                <a:arcTo hR="127000" wR="127000" stAng="0" swAng="5400000"/>
                <a:lnTo>
                  <a:pt x="127000" y="2506345"/>
                </a:lnTo>
                <a:arcTo hR="127000" wR="127000" stAng="5400000" swAng="5400000"/>
                <a:lnTo>
                  <a:pt x="0" y="2379345"/>
                </a:lnTo>
                <a:arcTo hR="63500" wR="127000" stAng="10800000" swAng="-5400000"/>
                <a:lnTo>
                  <a:pt x="3259693" y="2442845"/>
                </a:lnTo>
                <a:arcTo hR="63500" wR="127000" stAng="5400000" swAng="-5400000"/>
                <a:close/>
              </a:path>
            </a:pathLst>
          </a:custGeom>
          <a:solidFill>
            <a:srgbClr val="1B2A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46507" y="1795780"/>
            <a:ext cx="296505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03</a:t>
            </a:r>
            <a:endParaRPr lang="en-US" sz="5500" dirty="0"/>
          </a:p>
        </p:txBody>
      </p:sp>
      <p:sp>
        <p:nvSpPr>
          <p:cNvPr id="19" name="Text 17"/>
          <p:cNvSpPr/>
          <p:nvPr/>
        </p:nvSpPr>
        <p:spPr>
          <a:xfrm>
            <a:off x="8246507" y="2583180"/>
            <a:ext cx="2965054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аномалий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46507" y="2961641"/>
            <a:ext cx="296505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объекты не похожи на остальные?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430212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работают вместе: сжать данные, найти группы, найти выбивающееся.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04400" y="6238241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C6EBE8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Кластеризация и K-means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80"/>
            <a:ext cx="5181600" cy="1642745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541780"/>
            <a:ext cx="5181600" cy="1642745"/>
          </a:xfrm>
          <a:custGeom>
            <a:avLst/>
            <a:gdLst/>
            <a:ahLst/>
            <a:cxnLst/>
            <a:rect l="l" t="t" r="r" b="b"/>
            <a:pathLst>
              <a:path w="5181600" h="164274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821180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кластеризации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5220" y="2184400"/>
            <a:ext cx="477469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Похожие объекты — в одну группу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Разметки нет: структуру находит алгоритм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зависит от метрики расстояния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7600" y="1541780"/>
            <a:ext cx="5181600" cy="1642745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97600" y="1541780"/>
            <a:ext cx="5181600" cy="1642745"/>
          </a:xfrm>
          <a:custGeom>
            <a:avLst/>
            <a:gdLst/>
            <a:ahLst/>
            <a:cxnLst/>
            <a:rect l="l" t="t" r="r" b="b"/>
            <a:pathLst>
              <a:path w="5181600" h="164274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26200" y="1821180"/>
            <a:ext cx="48661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0020" y="2184400"/>
            <a:ext cx="477469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 k центроидов (лучше K-means++)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— к ближайшему центроиду</a:t>
            </a:r>
            <a:endParaRPr lang="en-US" sz="1500" dirty="0"/>
          </a:p>
          <a:p>
            <a:pPr algn="l" marL="170180" indent="-170180">
              <a:lnSpc>
                <a:spcPts val="2025"/>
              </a:lnSpc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Центроиды = средние, повторяем до сходимости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343852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Минусы: k нужно знать заранее, чувствителен к выбросам, ждёт сферические кластеры.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КЛАСТЕРИЗАЦИЯ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04400" y="6238239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7D4C6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Когда K-means ошибается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032000" y="1541782"/>
            <a:ext cx="8128000" cy="3663950"/>
          </a:xfrm>
          <a:prstGeom prst="roundRect">
            <a:avLst>
              <a:gd name="adj" fmla="val 4159"/>
            </a:avLst>
          </a:prstGeom>
          <a:solidFill>
            <a:srgbClr val="FFFFFF"/>
          </a:solidFill>
          <a:ln/>
        </p:spPr>
      </p:sp>
      <p:pic>
        <p:nvPicPr>
          <p:cNvPr id="7" name="Image 0" descr="K-means и DBSCAN на двух полумесяцах">    </p:cNvPr>
          <p:cNvPicPr>
            <a:picLocks noChangeAspect="1"/>
          </p:cNvPicPr>
          <p:nvPr/>
        </p:nvPicPr>
        <p:blipFill>
          <a:blip r:embed="rId1"/>
          <a:srcRect l="-5622" r="-5622" t="0" b="0"/>
          <a:stretch/>
        </p:blipFill>
        <p:spPr>
          <a:xfrm>
            <a:off x="2159000" y="1668782"/>
            <a:ext cx="7874000" cy="3409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800" y="545973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режет полумесяцы пополам, DBSCAN идёт за плотностью, а шум помечает серым.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КЛАСТЕРИЗАЦИЯ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04400" y="6238239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FC24A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МЕМ-ПАУЗА</a:t>
            </a:r>
            <a:endParaRPr lang="en-US" sz="15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13335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Как выбирают 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2800" y="2062482"/>
            <a:ext cx="5181600" cy="1997710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17600" y="236728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C843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Теория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17600" y="3088639"/>
            <a:ext cx="470916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локтя, силуэт и здравый смысл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97600" y="2062482"/>
            <a:ext cx="5181600" cy="1997710"/>
          </a:xfrm>
          <a:prstGeom prst="roundRect">
            <a:avLst>
              <a:gd name="adj" fmla="val 8900"/>
            </a:avLst>
          </a:prstGeom>
          <a:solidFill>
            <a:srgbClr val="1B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2367282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8A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Практика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02400" y="3088639"/>
            <a:ext cx="470916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«Пусть будет четыре, красиво вышло»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12800" y="431418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Шутка с долей правды: интерпретируемость кластеров часто решает больше метрик.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04400" y="6238239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7D4C6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Сравнение методов кластеризации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1942"/>
          <a:ext cx="10556240" cy="3342640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Плюсы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Минусы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центроидов, среднее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Быстрый, простой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Нужно задать k, сферы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Иерархическая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Дерево слияний, дендрограмма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заранее не нужен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Медленная, зависит от связи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DBSCAN / HDBSCAN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Плотные области, остальное — шум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Любая форма, находит шум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Чувствителен к eps и minPts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Смесь нормальных распределений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Мягкая принадлежность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Нужно задать число, эллипсы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51485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Универсального метода нет: пробуем два-три и проверяем интерпретируемость.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КЛАСТЕРИЗАЦИЯ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804400" y="6238239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C6EBE8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Как оценивать кластеризацию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82"/>
            <a:ext cx="6477000" cy="3100070"/>
          </a:xfrm>
          <a:prstGeom prst="roundRect">
            <a:avLst>
              <a:gd name="adj" fmla="val 4916"/>
            </a:avLst>
          </a:prstGeom>
          <a:solidFill>
            <a:srgbClr val="FFFFFF"/>
          </a:solidFill>
          <a:ln/>
        </p:spPr>
      </p:sp>
      <p:pic>
        <p:nvPicPr>
          <p:cNvPr id="7" name="Image 0" descr="Метод локтя и силуэт">    </p:cNvPr>
          <p:cNvPicPr>
            <a:picLocks noChangeAspect="1"/>
          </p:cNvPicPr>
          <p:nvPr/>
        </p:nvPicPr>
        <p:blipFill>
          <a:blip r:embed="rId1"/>
          <a:srcRect l="-9252" r="-9252" t="0" b="0"/>
          <a:stretch/>
        </p:blipFill>
        <p:spPr>
          <a:xfrm>
            <a:off x="939800" y="1668782"/>
            <a:ext cx="6223000" cy="23812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3000" y="1541782"/>
            <a:ext cx="3886200" cy="788670"/>
          </a:xfrm>
          <a:prstGeom prst="roundRect">
            <a:avLst>
              <a:gd name="adj" fmla="val 12882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493000" y="1541782"/>
            <a:ext cx="3886200" cy="788670"/>
          </a:xfrm>
          <a:custGeom>
            <a:avLst/>
            <a:gdLst/>
            <a:ahLst/>
            <a:cxnLst/>
            <a:rect l="l" t="t" r="r" b="b"/>
            <a:pathLst>
              <a:path w="3886200" h="788670">
                <a:moveTo>
                  <a:pt x="101600" y="788670"/>
                </a:moveTo>
                <a:lnTo>
                  <a:pt x="101600" y="78867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687070"/>
                </a:lnTo>
                <a:arcTo hR="101600" wR="38100" stAng="108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10" name="Text 7"/>
          <p:cNvSpPr/>
          <p:nvPr/>
        </p:nvSpPr>
        <p:spPr>
          <a:xfrm>
            <a:off x="7757160" y="1694182"/>
            <a:ext cx="352140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Силуэт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57160" y="1938021"/>
            <a:ext cx="352140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−1 до 1. Чем больше, тем лучше.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3000" y="2457450"/>
            <a:ext cx="3886200" cy="102870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3000" y="2457450"/>
            <a:ext cx="3886200" cy="1028700"/>
          </a:xfrm>
          <a:custGeom>
            <a:avLst/>
            <a:gdLst/>
            <a:ahLst/>
            <a:cxnLst/>
            <a:rect l="l" t="t" r="r" b="b"/>
            <a:pathLst>
              <a:path w="3886200" h="1028700">
                <a:moveTo>
                  <a:pt x="101600" y="1028700"/>
                </a:moveTo>
                <a:lnTo>
                  <a:pt x="101600" y="10287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927100"/>
                </a:lnTo>
                <a:arcTo hR="101600" wR="38100" stAng="108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4" name="Text 11"/>
          <p:cNvSpPr/>
          <p:nvPr/>
        </p:nvSpPr>
        <p:spPr>
          <a:xfrm>
            <a:off x="7757160" y="2609850"/>
            <a:ext cx="352140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Калински–Харабаса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57160" y="2853689"/>
            <a:ext cx="352140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Разброс между кластерами к разбросу внутри. Больше — лучше.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93000" y="3613150"/>
            <a:ext cx="3886200" cy="102870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493000" y="3613150"/>
            <a:ext cx="3886200" cy="1028700"/>
          </a:xfrm>
          <a:custGeom>
            <a:avLst/>
            <a:gdLst/>
            <a:ahLst/>
            <a:cxnLst/>
            <a:rect l="l" t="t" r="r" b="b"/>
            <a:pathLst>
              <a:path w="3886200" h="1028700">
                <a:moveTo>
                  <a:pt x="101600" y="1028700"/>
                </a:moveTo>
                <a:lnTo>
                  <a:pt x="101600" y="10287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927100"/>
                </a:lnTo>
                <a:arcTo hR="101600" wR="38100" stAng="10800000" swAng="-5400000"/>
                <a:close/>
              </a:path>
            </a:pathLst>
          </a:custGeom>
          <a:solidFill>
            <a:srgbClr val="1B2A3A"/>
          </a:solidFill>
          <a:ln/>
        </p:spPr>
      </p:sp>
      <p:sp>
        <p:nvSpPr>
          <p:cNvPr id="18" name="Text 15"/>
          <p:cNvSpPr/>
          <p:nvPr/>
        </p:nvSpPr>
        <p:spPr>
          <a:xfrm>
            <a:off x="7757160" y="3765550"/>
            <a:ext cx="352140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Дэвиса–Боулдина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57160" y="4009389"/>
            <a:ext cx="352140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Сходство соседних кластеров. Меньше — лучше.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2800" y="489585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эталонное разбиение? Сравниваем через ARI и NMI. Ни одна метрика не окончательна.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КЛАСТЕРИЗАЦИЯ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7D4C6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Зачем снижать размерность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79"/>
            <a:ext cx="2489200" cy="221234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541779"/>
            <a:ext cx="2489200" cy="2212340"/>
          </a:xfrm>
          <a:custGeom>
            <a:avLst/>
            <a:gdLst/>
            <a:ahLst/>
            <a:cxnLst/>
            <a:rect l="l" t="t" r="r" b="b"/>
            <a:pathLst>
              <a:path w="2489200" h="2212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821179"/>
            <a:ext cx="2092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1400" y="2184400"/>
            <a:ext cx="2092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Сжать до 2–3 измерений и увидеть структуру.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05200" y="1541779"/>
            <a:ext cx="2489200" cy="221234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05200" y="1541779"/>
            <a:ext cx="2489200" cy="2212340"/>
          </a:xfrm>
          <a:custGeom>
            <a:avLst/>
            <a:gdLst/>
            <a:ahLst/>
            <a:cxnLst/>
            <a:rect l="l" t="t" r="r" b="b"/>
            <a:pathLst>
              <a:path w="2489200" h="2212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733800" y="1821179"/>
            <a:ext cx="2092960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Проклятие размерности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3800" y="2458721"/>
            <a:ext cx="2092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многомерном пространстве расстояния теряют смысл.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97600" y="1541779"/>
            <a:ext cx="2489200" cy="221234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7600" y="1541779"/>
            <a:ext cx="2489200" cy="2212340"/>
          </a:xfrm>
          <a:custGeom>
            <a:avLst/>
            <a:gdLst/>
            <a:ahLst/>
            <a:cxnLst/>
            <a:rect l="l" t="t" r="r" b="b"/>
            <a:pathLst>
              <a:path w="2489200" h="2212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B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26200" y="1821179"/>
            <a:ext cx="2092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 и дубли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6200" y="2184400"/>
            <a:ext cx="2092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тысячи признаков реальную информацию несут десятки.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90000" y="1541779"/>
            <a:ext cx="2489200" cy="221234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890000" y="1541779"/>
            <a:ext cx="2489200" cy="2212340"/>
          </a:xfrm>
          <a:custGeom>
            <a:avLst/>
            <a:gdLst/>
            <a:ahLst/>
            <a:cxnLst/>
            <a:rect l="l" t="t" r="r" b="b"/>
            <a:pathLst>
              <a:path w="2489200" h="22123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387600" y="0"/>
                </a:lnTo>
                <a:arcTo hR="101600" wR="101600" stAng="16200000" swAng="5400000"/>
                <a:lnTo>
                  <a:pt x="24892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5B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9118600" y="1821179"/>
            <a:ext cx="209296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18600" y="2184400"/>
            <a:ext cx="20929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признаков — быстрее обучение.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400812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Линейные методы (PCA) быстры и интерпретируемы; нелинейные гибче, но сложнее.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СНИЖЕНИЕ РАЗМЕРНОСТИ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C6EBE8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PCA: метод главных компонент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79"/>
            <a:ext cx="7239000" cy="3282950"/>
          </a:xfrm>
          <a:prstGeom prst="roundRect">
            <a:avLst>
              <a:gd name="adj" fmla="val 4642"/>
            </a:avLst>
          </a:prstGeom>
          <a:solidFill>
            <a:srgbClr val="FFFFFF"/>
          </a:solidFill>
          <a:ln/>
        </p:spPr>
      </p:sp>
      <p:pic>
        <p:nvPicPr>
          <p:cNvPr id="7" name="Image 0" descr="PCA для цифр и накопленная дисперсия">    </p:cNvPr>
          <p:cNvPicPr>
            <a:picLocks noChangeAspect="1"/>
          </p:cNvPicPr>
          <p:nvPr/>
        </p:nvPicPr>
        <p:blipFill>
          <a:blip r:embed="rId1"/>
          <a:srcRect l="-5203" r="-5203" t="0" b="0"/>
          <a:stretch/>
        </p:blipFill>
        <p:spPr>
          <a:xfrm>
            <a:off x="939800" y="1668779"/>
            <a:ext cx="6985000" cy="30289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55000" y="1541779"/>
            <a:ext cx="2794000" cy="1268730"/>
          </a:xfrm>
          <a:prstGeom prst="roundRect">
            <a:avLst>
              <a:gd name="adj" fmla="val 8008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41779"/>
            <a:ext cx="2794000" cy="1268730"/>
          </a:xfrm>
          <a:custGeom>
            <a:avLst/>
            <a:gdLst/>
            <a:ahLst/>
            <a:cxnLst/>
            <a:rect l="l" t="t" r="r" b="b"/>
            <a:pathLst>
              <a:path w="2794000" h="1268730">
                <a:moveTo>
                  <a:pt x="101600" y="1268730"/>
                </a:moveTo>
                <a:lnTo>
                  <a:pt x="101600" y="126873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1167130"/>
                </a:lnTo>
                <a:arcTo hR="101600" wR="38100" stAng="108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10" name="Text 7"/>
          <p:cNvSpPr/>
          <p:nvPr/>
        </p:nvSpPr>
        <p:spPr>
          <a:xfrm>
            <a:off x="8519160" y="1694179"/>
            <a:ext cx="239643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19160" y="1938021"/>
            <a:ext cx="239643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Оси — направления максимальной дисперсии, признаки стандартизируем.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55000" y="2937514"/>
            <a:ext cx="2794000" cy="1268730"/>
          </a:xfrm>
          <a:prstGeom prst="roundRect">
            <a:avLst>
              <a:gd name="adj" fmla="val 8008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255000" y="2937514"/>
            <a:ext cx="2794000" cy="1268730"/>
          </a:xfrm>
          <a:custGeom>
            <a:avLst/>
            <a:gdLst/>
            <a:ahLst/>
            <a:cxnLst/>
            <a:rect l="l" t="t" r="r" b="b"/>
            <a:pathLst>
              <a:path w="2794000" h="1268730">
                <a:moveTo>
                  <a:pt x="101600" y="1268730"/>
                </a:moveTo>
                <a:lnTo>
                  <a:pt x="101600" y="126873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1167130"/>
                </a:lnTo>
                <a:arcTo hR="101600" wR="38100" stAng="108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4" name="Text 11"/>
          <p:cNvSpPr/>
          <p:nvPr/>
        </p:nvSpPr>
        <p:spPr>
          <a:xfrm>
            <a:off x="8519160" y="3089914"/>
            <a:ext cx="239643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оставить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19160" y="3333750"/>
            <a:ext cx="239643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90–95% накопленной дисперсии или «локоть» на графике.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507872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 64 пикселя на цифру, набор digits из scikit-learn. Малые компоненты иногда хранят аномалии.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СНИЖЕНИЕ РАЗМЕРНОСТИ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7D4C6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Нелинейные методы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79"/>
            <a:ext cx="7239000" cy="3282950"/>
          </a:xfrm>
          <a:prstGeom prst="roundRect">
            <a:avLst>
              <a:gd name="adj" fmla="val 4642"/>
            </a:avLst>
          </a:prstGeom>
          <a:solidFill>
            <a:srgbClr val="FFFFFF"/>
          </a:solidFill>
          <a:ln/>
        </p:spPr>
      </p:sp>
      <p:pic>
        <p:nvPicPr>
          <p:cNvPr id="7" name="Image 0" descr="t-SNE и UMAP для тех же цифр">    </p:cNvPr>
          <p:cNvPicPr>
            <a:picLocks noChangeAspect="1"/>
          </p:cNvPicPr>
          <p:nvPr/>
        </p:nvPicPr>
        <p:blipFill>
          <a:blip r:embed="rId1"/>
          <a:srcRect l="-5291" r="-5291" t="0" b="0"/>
          <a:stretch/>
        </p:blipFill>
        <p:spPr>
          <a:xfrm>
            <a:off x="939800" y="1668779"/>
            <a:ext cx="6985000" cy="30289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55000" y="1541779"/>
            <a:ext cx="2794000" cy="150876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55000" y="1541779"/>
            <a:ext cx="2794000" cy="1508760"/>
          </a:xfrm>
          <a:custGeom>
            <a:avLst/>
            <a:gdLst/>
            <a:ahLst/>
            <a:cxnLst/>
            <a:rect l="l" t="t" r="r" b="b"/>
            <a:pathLst>
              <a:path w="2794000" h="1508760">
                <a:moveTo>
                  <a:pt x="101600" y="1508760"/>
                </a:moveTo>
                <a:lnTo>
                  <a:pt x="101600" y="15087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1407160"/>
                </a:lnTo>
                <a:arcTo hR="101600" wR="38100" stAng="108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10" name="Text 7"/>
          <p:cNvSpPr/>
          <p:nvPr/>
        </p:nvSpPr>
        <p:spPr>
          <a:xfrm>
            <a:off x="8519160" y="1694179"/>
            <a:ext cx="239643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19160" y="1938021"/>
            <a:ext cx="2396439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Сохраняет локальных соседей, нужен для визуализации, зависит от perplexity.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55000" y="3177542"/>
            <a:ext cx="2794000" cy="1268730"/>
          </a:xfrm>
          <a:prstGeom prst="roundRect">
            <a:avLst>
              <a:gd name="adj" fmla="val 8008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255000" y="3177542"/>
            <a:ext cx="2794000" cy="1268730"/>
          </a:xfrm>
          <a:custGeom>
            <a:avLst/>
            <a:gdLst/>
            <a:ahLst/>
            <a:cxnLst/>
            <a:rect l="l" t="t" r="r" b="b"/>
            <a:pathLst>
              <a:path w="2794000" h="1268730">
                <a:moveTo>
                  <a:pt x="101600" y="1268730"/>
                </a:moveTo>
                <a:lnTo>
                  <a:pt x="101600" y="126873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1167130"/>
                </a:lnTo>
                <a:arcTo hR="101600" wR="38100" stAng="108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4" name="Text 11"/>
          <p:cNvSpPr/>
          <p:nvPr/>
        </p:nvSpPr>
        <p:spPr>
          <a:xfrm>
            <a:off x="8519160" y="3329942"/>
            <a:ext cx="239643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519160" y="3573779"/>
            <a:ext cx="2396439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соседей: быстрее, применим к новым данным, дружит с HDBSCAN.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2800" y="507872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Автоэнкодер: encoder, узкое горлышко, decoder. Ловит нелинейные связи, но его нужно обучать.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СНИЖЕНИЕ РАЗМЕРНОСТИ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C6EBE8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Что считаем аномалией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79"/>
            <a:ext cx="6172200" cy="788670"/>
          </a:xfrm>
          <a:prstGeom prst="roundRect">
            <a:avLst>
              <a:gd name="adj" fmla="val 1288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541779"/>
            <a:ext cx="6172200" cy="788670"/>
          </a:xfrm>
          <a:custGeom>
            <a:avLst/>
            <a:gdLst/>
            <a:ahLst/>
            <a:cxnLst/>
            <a:rect l="l" t="t" r="r" b="b"/>
            <a:pathLst>
              <a:path w="6172200" h="788670">
                <a:moveTo>
                  <a:pt x="101600" y="788670"/>
                </a:moveTo>
                <a:lnTo>
                  <a:pt x="101600" y="78867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687070"/>
                </a:lnTo>
                <a:arcTo hR="101600" wR="38100" stAng="108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8" name="Text 6"/>
          <p:cNvSpPr/>
          <p:nvPr/>
        </p:nvSpPr>
        <p:spPr>
          <a:xfrm>
            <a:off x="1076960" y="1694179"/>
            <a:ext cx="587598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Точечная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6960" y="1938021"/>
            <a:ext cx="587598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объект резко выбивается: мошенническая транзакция.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2457450"/>
            <a:ext cx="6172200" cy="788670"/>
          </a:xfrm>
          <a:prstGeom prst="roundRect">
            <a:avLst>
              <a:gd name="adj" fmla="val 1288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12800" y="2457450"/>
            <a:ext cx="6172200" cy="788670"/>
          </a:xfrm>
          <a:custGeom>
            <a:avLst/>
            <a:gdLst/>
            <a:ahLst/>
            <a:cxnLst/>
            <a:rect l="l" t="t" r="r" b="b"/>
            <a:pathLst>
              <a:path w="6172200" h="788670">
                <a:moveTo>
                  <a:pt x="101600" y="788670"/>
                </a:moveTo>
                <a:lnTo>
                  <a:pt x="101600" y="78867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687070"/>
                </a:lnTo>
                <a:arcTo hR="101600" wR="38100" stAng="108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76960" y="2609850"/>
            <a:ext cx="587598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Контекстная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6960" y="2853692"/>
            <a:ext cx="5875985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в одном контексте, аномалия в другом: +30 °C зимой.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3373121"/>
            <a:ext cx="6172200" cy="102870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800" y="3373121"/>
            <a:ext cx="6172200" cy="1028700"/>
          </a:xfrm>
          <a:custGeom>
            <a:avLst/>
            <a:gdLst/>
            <a:ahLst/>
            <a:cxnLst/>
            <a:rect l="l" t="t" r="r" b="b"/>
            <a:pathLst>
              <a:path w="6172200" h="1028700">
                <a:moveTo>
                  <a:pt x="101600" y="1028700"/>
                </a:moveTo>
                <a:lnTo>
                  <a:pt x="101600" y="10287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927100"/>
                </a:lnTo>
                <a:arcTo hR="101600" wR="38100" stAng="10800000" swAng="-5400000"/>
                <a:close/>
              </a:path>
            </a:pathLst>
          </a:custGeom>
          <a:solidFill>
            <a:srgbClr val="1B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76960" y="3525521"/>
            <a:ext cx="587598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Коллективная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6960" y="3769364"/>
            <a:ext cx="587598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отдельности нормально, вместе странно: серия мелких транзакций.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88200" y="1541779"/>
            <a:ext cx="4191000" cy="340360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</p:spPr>
      </p:sp>
      <p:pic>
        <p:nvPicPr>
          <p:cNvPr id="19" name="Image 0" descr="Isolation Forest: аномалии выделены красным">    </p:cNvPr>
          <p:cNvPicPr>
            <a:picLocks noChangeAspect="1"/>
          </p:cNvPicPr>
          <p:nvPr/>
        </p:nvPicPr>
        <p:blipFill>
          <a:blip r:embed="rId1"/>
          <a:srcRect l="-206" r="-206" t="0" b="0"/>
          <a:stretch/>
        </p:blipFill>
        <p:spPr>
          <a:xfrm>
            <a:off x="7315200" y="1668779"/>
            <a:ext cx="3937000" cy="3149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12800" y="51993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Аномалий мало, разметки почти нет: естественная задача без учителя.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ВЫЯВЛЕНИЕ АНОМАЛИЙ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7D4C6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Методы поиска аномалий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1939"/>
          <a:ext cx="10556240" cy="305816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Метод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z-score / IQR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Выход за ±3σ или за 1,5·IQR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признак, симметричные данные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 / LOF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Далёкие и разреженные области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Нужны масштаб и выбор 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23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Isolation Forest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Аномалии изолируются за мало шагов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Порог выбираем сами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Автоэнкодер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Большая ошибка восстановления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Обучать на нормальных данных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ВЫЯВЛЕНИЕ АНОМАЛИЙ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C6EBE8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Оценка и выбор порога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79"/>
            <a:ext cx="5435600" cy="2051050"/>
          </a:xfrm>
          <a:prstGeom prst="roundRect">
            <a:avLst>
              <a:gd name="adj" fmla="val 6192"/>
            </a:avLst>
          </a:prstGeom>
          <a:solidFill>
            <a:srgbClr val="1B2A3A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795779"/>
            <a:ext cx="5075428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F8A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99,9%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1066800" y="2824479"/>
            <a:ext cx="507542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у модели «всегда норма», когда аномалий 0,1%. Ни одной найденной аномалии.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51600" y="1541779"/>
            <a:ext cx="4927600" cy="788670"/>
          </a:xfrm>
          <a:prstGeom prst="roundRect">
            <a:avLst>
              <a:gd name="adj" fmla="val 1288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51600" y="1541779"/>
            <a:ext cx="4927600" cy="788670"/>
          </a:xfrm>
          <a:custGeom>
            <a:avLst/>
            <a:gdLst/>
            <a:ahLst/>
            <a:cxnLst/>
            <a:rect l="l" t="t" r="r" b="b"/>
            <a:pathLst>
              <a:path w="4927600" h="788670">
                <a:moveTo>
                  <a:pt x="101600" y="788670"/>
                </a:moveTo>
                <a:lnTo>
                  <a:pt x="101600" y="78867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687070"/>
                </a:lnTo>
                <a:arcTo hR="101600" wR="38100" stAng="108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1" name="Text 9"/>
          <p:cNvSpPr/>
          <p:nvPr/>
        </p:nvSpPr>
        <p:spPr>
          <a:xfrm>
            <a:off x="6715760" y="1694179"/>
            <a:ext cx="459404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15760" y="1938021"/>
            <a:ext cx="4594047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есть разметка: precision, recall, F1, PR-AUC.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51600" y="2457450"/>
            <a:ext cx="4927600" cy="1028700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51600" y="2457450"/>
            <a:ext cx="4927600" cy="1028700"/>
          </a:xfrm>
          <a:custGeom>
            <a:avLst/>
            <a:gdLst/>
            <a:ahLst/>
            <a:cxnLst/>
            <a:rect l="l" t="t" r="r" b="b"/>
            <a:pathLst>
              <a:path w="4927600" h="1028700">
                <a:moveTo>
                  <a:pt x="101600" y="1028700"/>
                </a:moveTo>
                <a:lnTo>
                  <a:pt x="101600" y="102870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38100" stAng="16200000" swAng="-5400000"/>
                <a:lnTo>
                  <a:pt x="63500" y="927100"/>
                </a:lnTo>
                <a:arcTo hR="101600" wR="38100" stAng="108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15" name="Text 13"/>
          <p:cNvSpPr/>
          <p:nvPr/>
        </p:nvSpPr>
        <p:spPr>
          <a:xfrm>
            <a:off x="6715760" y="2609850"/>
            <a:ext cx="459404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15760" y="2853692"/>
            <a:ext cx="459404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аномалий, статистика, график оценок или бизнес-лимит. Цена ошибок зависит от задачи.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384682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разметки: топ-N на проверку эксперту, синтетические аномалии, сравнение методов.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ВЫЯВЛЕНИЕ АНОМАЛИЙ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FC24A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МЕМ-ПАУЗА</a:t>
            </a:r>
            <a:endParaRPr lang="en-US" sz="15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13335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Accuracy 99,9%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2800" y="2062479"/>
            <a:ext cx="5181600" cy="1664335"/>
          </a:xfrm>
          <a:prstGeom prst="roundRect">
            <a:avLst>
              <a:gd name="adj" fmla="val 1068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17600" y="2367279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C843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Модель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17600" y="3088642"/>
            <a:ext cx="4709160" cy="3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«Аномалий нет, точность 99,9%!»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97600" y="2062479"/>
            <a:ext cx="5181600" cy="1664335"/>
          </a:xfrm>
          <a:prstGeom prst="roundRect">
            <a:avLst>
              <a:gd name="adj" fmla="val 10683"/>
            </a:avLst>
          </a:prstGeom>
          <a:solidFill>
            <a:srgbClr val="1B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2367279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8A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Мошенник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02400" y="3088642"/>
            <a:ext cx="4709160" cy="3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«…» (его так никто и не заметил)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12800" y="3980817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для аномалий считаем precision, recall и PR-AUC.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C6EBE8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F6F7A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Три задачи вместе: анализ клиентов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12800" y="1541785"/>
            <a:ext cx="2146300" cy="1026160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</p:spPr>
        <p:txBody>
          <a:bodyPr wrap="square" lIns="173442" tIns="224242" rIns="121245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Стандартизация признаков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1541785"/>
            <a:ext cx="2146300" cy="1026160"/>
          </a:xfrm>
          <a:custGeom>
            <a:avLst/>
            <a:gdLst/>
            <a:ahLst/>
            <a:cxnLst/>
            <a:rect l="l" t="t" r="r" b="b"/>
            <a:pathLst>
              <a:path w="2146300" h="10261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044700" y="0"/>
                </a:lnTo>
                <a:arcTo hR="101600" wR="101600" stAng="16200000" swAng="5400000"/>
                <a:lnTo>
                  <a:pt x="2146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8" name="Text 6"/>
          <p:cNvSpPr/>
          <p:nvPr/>
        </p:nvSpPr>
        <p:spPr>
          <a:xfrm>
            <a:off x="3111500" y="1805942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19500" y="1541785"/>
            <a:ext cx="2146300" cy="1026160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</p:spPr>
        <p:txBody>
          <a:bodyPr wrap="square" lIns="173442" tIns="224242" rIns="121245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PCA: 90% дисперсии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19500" y="1541785"/>
            <a:ext cx="2146300" cy="1026160"/>
          </a:xfrm>
          <a:custGeom>
            <a:avLst/>
            <a:gdLst/>
            <a:ahLst/>
            <a:cxnLst/>
            <a:rect l="l" t="t" r="r" b="b"/>
            <a:pathLst>
              <a:path w="2146300" h="10261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044700" y="0"/>
                </a:lnTo>
                <a:arcTo hR="101600" wR="101600" stAng="16200000" swAng="5400000"/>
                <a:lnTo>
                  <a:pt x="2146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1" name="Text 9"/>
          <p:cNvSpPr/>
          <p:nvPr/>
        </p:nvSpPr>
        <p:spPr>
          <a:xfrm>
            <a:off x="5918200" y="1805942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26200" y="1541785"/>
            <a:ext cx="2146300" cy="1026160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</p:spPr>
        <p:txBody>
          <a:bodyPr wrap="square" lIns="173442" tIns="224242" rIns="121245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K-means: k по силуэту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26200" y="1541785"/>
            <a:ext cx="2146300" cy="1026160"/>
          </a:xfrm>
          <a:custGeom>
            <a:avLst/>
            <a:gdLst/>
            <a:ahLst/>
            <a:cxnLst/>
            <a:rect l="l" t="t" r="r" b="b"/>
            <a:pathLst>
              <a:path w="2146300" h="10261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044700" y="0"/>
                </a:lnTo>
                <a:arcTo hR="101600" wR="101600" stAng="16200000" swAng="5400000"/>
                <a:lnTo>
                  <a:pt x="2146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4" name="Text 12"/>
          <p:cNvSpPr/>
          <p:nvPr/>
        </p:nvSpPr>
        <p:spPr>
          <a:xfrm>
            <a:off x="8724900" y="1805942"/>
            <a:ext cx="4267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32900" y="1541785"/>
            <a:ext cx="2146300" cy="1026160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</p:spPr>
        <p:txBody>
          <a:bodyPr wrap="square" lIns="173442" tIns="224242" rIns="121245" bIns="1480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LOF внутри сегментов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32900" y="1541785"/>
            <a:ext cx="2146300" cy="1026160"/>
          </a:xfrm>
          <a:custGeom>
            <a:avLst/>
            <a:gdLst/>
            <a:ahLst/>
            <a:cxnLst/>
            <a:rect l="l" t="t" r="r" b="b"/>
            <a:pathLst>
              <a:path w="2146300" h="102616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044700" y="0"/>
                </a:lnTo>
                <a:arcTo hR="101600" wR="101600" stAng="16200000" swAng="5400000"/>
                <a:lnTo>
                  <a:pt x="21463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7" name="Text 15"/>
          <p:cNvSpPr/>
          <p:nvPr/>
        </p:nvSpPr>
        <p:spPr>
          <a:xfrm>
            <a:off x="812800" y="282194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Сегменты идут в маркетинг, аномалии — в службу безопасности. Это гипотезы: их нужно проверять.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ПРАКТИКА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7D4C6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D9582B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Типичные ошибки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800" y="1541785"/>
            <a:ext cx="3386614" cy="1671320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541785"/>
            <a:ext cx="3386614" cy="1671320"/>
          </a:xfrm>
          <a:custGeom>
            <a:avLst/>
            <a:gdLst/>
            <a:ahLst/>
            <a:cxnLst/>
            <a:rect l="l" t="t" r="r" b="b"/>
            <a:pathLst>
              <a:path w="3386614" h="1671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14" y="0"/>
                </a:lnTo>
                <a:arcTo hR="101600" wR="101600" stAng="16200000" swAng="5400000"/>
                <a:lnTo>
                  <a:pt x="338661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821185"/>
            <a:ext cx="301729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масштабирования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1400" y="2184400"/>
            <a:ext cx="301729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 в разных единицах искажают расстояния.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2614" y="1541785"/>
            <a:ext cx="3386693" cy="1671320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402614" y="1541785"/>
            <a:ext cx="3386693" cy="1671320"/>
          </a:xfrm>
          <a:custGeom>
            <a:avLst/>
            <a:gdLst/>
            <a:ahLst/>
            <a:cxnLst/>
            <a:rect l="l" t="t" r="r" b="b"/>
            <a:pathLst>
              <a:path w="3386693" h="1671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12" name="Text 10"/>
          <p:cNvSpPr/>
          <p:nvPr/>
        </p:nvSpPr>
        <p:spPr>
          <a:xfrm>
            <a:off x="4631214" y="1821185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Выбросы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1214" y="2184400"/>
            <a:ext cx="301737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Мешают K-means и PCA, но при поиске аномалий их нельзя удалять.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2507" y="1541785"/>
            <a:ext cx="3386693" cy="1671320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07" y="1541785"/>
            <a:ext cx="3386693" cy="1671320"/>
          </a:xfrm>
          <a:custGeom>
            <a:avLst/>
            <a:gdLst/>
            <a:ahLst/>
            <a:cxnLst/>
            <a:rect l="l" t="t" r="r" b="b"/>
            <a:pathLst>
              <a:path w="3386693" h="16713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B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1107" y="1821185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по умолчанию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1107" y="2184400"/>
            <a:ext cx="301737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текстов лучше косинусная, для категорий — Хэмминга.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2800" y="3416300"/>
            <a:ext cx="3386614" cy="1678940"/>
          </a:xfrm>
          <a:prstGeom prst="roundRect">
            <a:avLst>
              <a:gd name="adj" fmla="val 605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800" y="3416300"/>
            <a:ext cx="3386614" cy="1678940"/>
          </a:xfrm>
          <a:custGeom>
            <a:avLst/>
            <a:gdLst/>
            <a:ahLst/>
            <a:cxnLst/>
            <a:rect l="l" t="t" r="r" b="b"/>
            <a:pathLst>
              <a:path w="3386614" h="16789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14" y="0"/>
                </a:lnTo>
                <a:arcTo hR="101600" wR="101600" stAng="16200000" swAng="5400000"/>
                <a:lnTo>
                  <a:pt x="3386614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D9582B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" y="3695700"/>
            <a:ext cx="301729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95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Буквальные выводы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1400" y="4058927"/>
            <a:ext cx="301729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Кластеры могут быть артефактом метода: проверяем.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02614" y="3416300"/>
            <a:ext cx="3386693" cy="1678940"/>
          </a:xfrm>
          <a:prstGeom prst="roundRect">
            <a:avLst>
              <a:gd name="adj" fmla="val 6051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402614" y="3416300"/>
            <a:ext cx="3386693" cy="1678940"/>
          </a:xfrm>
          <a:custGeom>
            <a:avLst/>
            <a:gdLst/>
            <a:ahLst/>
            <a:cxnLst/>
            <a:rect l="l" t="t" r="r" b="b"/>
            <a:pathLst>
              <a:path w="3386693" h="16789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F6F7A"/>
          </a:solidFill>
          <a:ln/>
        </p:spPr>
      </p:sp>
      <p:sp>
        <p:nvSpPr>
          <p:cNvPr id="24" name="Text 22"/>
          <p:cNvSpPr/>
          <p:nvPr/>
        </p:nvSpPr>
        <p:spPr>
          <a:xfrm>
            <a:off x="4631214" y="3695700"/>
            <a:ext cx="3017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Проекции t-SNE и UMAP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31214" y="4058927"/>
            <a:ext cx="301737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визуализация, а не доказательство групп.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992507" y="3416300"/>
            <a:ext cx="3386693" cy="1678940"/>
          </a:xfrm>
          <a:prstGeom prst="roundRect">
            <a:avLst>
              <a:gd name="adj" fmla="val 6051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992507" y="3416300"/>
            <a:ext cx="3386693" cy="1678940"/>
          </a:xfrm>
          <a:custGeom>
            <a:avLst/>
            <a:gdLst/>
            <a:ahLst/>
            <a:cxnLst/>
            <a:rect l="l" t="t" r="r" b="b"/>
            <a:pathLst>
              <a:path w="3386693" h="167894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93" y="0"/>
                </a:lnTo>
                <a:arcTo hR="101600" wR="101600" stAng="16200000" swAng="5400000"/>
                <a:lnTo>
                  <a:pt x="3386693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B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1107" y="3695700"/>
            <a:ext cx="301737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проверки устойчивости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1107" y="4333242"/>
            <a:ext cx="301737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Запускаем несколько раз с разной инициализацией.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2800" y="35560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4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ПРАКТИКА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1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FFC24A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1B2A3A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МЕМ-ПАУЗА</a:t>
            </a:r>
            <a:endParaRPr lang="en-US" sz="15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1333500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B2A3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K-means без стандартизации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12800" y="2062485"/>
            <a:ext cx="5181600" cy="1997710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17600" y="2367285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C8431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Зарплата, ₽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17600" y="3088642"/>
            <a:ext cx="4709160" cy="6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здесь главная, все расстояния мои!»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197600" y="2062485"/>
            <a:ext cx="5181600" cy="1997710"/>
          </a:xfrm>
          <a:prstGeom prst="roundRect">
            <a:avLst>
              <a:gd name="adj" fmla="val 8900"/>
            </a:avLst>
          </a:prstGeom>
          <a:solidFill>
            <a:srgbClr val="1B2A3A"/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2367285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8A6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Возраст, лет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02400" y="3088642"/>
            <a:ext cx="4709160" cy="35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«Меня никто не слышит…»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12800" y="43141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Расстояния считаются по большим числам: масштабируем признаки.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172200"/>
            <a:ext cx="279400" cy="2794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193800" y="6286500"/>
            <a:ext cx="1397000" cy="50800"/>
          </a:xfrm>
          <a:prstGeom prst="roundRect">
            <a:avLst>
              <a:gd name="adj" fmla="val 50000"/>
            </a:avLst>
          </a:prstGeom>
          <a:solidFill>
            <a:srgbClr val="24405F"/>
          </a:solidFill>
          <a:ln/>
        </p:spPr>
      </p:sp>
      <p:sp>
        <p:nvSpPr>
          <p:cNvPr id="4" name="Shape 2"/>
          <p:cNvSpPr/>
          <p:nvPr/>
        </p:nvSpPr>
        <p:spPr>
          <a:xfrm>
            <a:off x="9080500" y="355600"/>
            <a:ext cx="952500" cy="1143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1722127"/>
            <a:ext cx="10883392" cy="50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Выводы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934" y="2451100"/>
            <a:ext cx="10819638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66" indent="-19786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без учителя нужно там, где разметки нет или она дорогая</a:t>
            </a:r>
            <a:endParaRPr lang="en-US" sz="1800" dirty="0"/>
          </a:p>
          <a:p>
            <a:pPr algn="l" marL="197866" indent="-19786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Универсального метода нет: пробуем несколько и проверяем</a:t>
            </a:r>
            <a:endParaRPr lang="en-US" sz="1800" dirty="0"/>
          </a:p>
          <a:p>
            <a:pPr algn="l" marL="197866" indent="-19786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задачи дополняют друг друга: сжать, сгруппировать, найти выбивающееся</a:t>
            </a:r>
            <a:endParaRPr lang="en-US" sz="1800" dirty="0"/>
          </a:p>
          <a:p>
            <a:pPr algn="l" marL="197866" indent="-197866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простого, усложняем по необходимости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3985258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EB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Инструменты: scikit-learn (включая HDBSCAN), umap-learn, PyOD, PyTorch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5059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8A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04400" y="6238242"/>
            <a:ext cx="157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EB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бучение без учителя: кластеризация, снижение размерности и выявление аномалий">
  <a:themeElements>
    <a:clrScheme name="Обучение без учителя: кластеризация, снижение размерности и выявление аномалий">
      <a:dk1>
        <a:srgbClr val="1B2A3A"/>
      </a:dk1>
      <a:lt1>
        <a:srgbClr val="EEF5F4"/>
      </a:lt1>
      <a:dk2>
        <a:srgbClr val="505D69"/>
      </a:dk2>
      <a:lt2>
        <a:srgbClr val="D9E1E1"/>
      </a:lt2>
      <a:accent1>
        <a:srgbClr val="D9582B"/>
      </a:accent1>
      <a:accent2>
        <a:srgbClr val="1F6F7A"/>
      </a:accent2>
      <a:accent3>
        <a:srgbClr val="C8431F"/>
      </a:accent3>
      <a:accent4>
        <a:srgbClr val="F7D4C6"/>
      </a:accent4>
      <a:accent5>
        <a:srgbClr val="2DD4BF"/>
      </a:accent5>
      <a:accent6>
        <a:srgbClr val="FF8A6B"/>
      </a:accent6>
      <a:hlink>
        <a:srgbClr val="0563C1"/>
      </a:hlink>
      <a:folHlink>
        <a:srgbClr val="954F72"/>
      </a:folHlink>
    </a:clrScheme>
    <a:fontScheme name="Обучение без учителя: кластеризация, снижение размерности и выявление аномалий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Обучение без учителя: кластеризация, снижение размерности и выявление аномалий</dc:title>
  <dc:subject/>
  <dc:creator/>
  <cp:lastModifiedBy/>
  <cp:revision>1</cp:revision>
  <dcterms:created xsi:type="dcterms:W3CDTF">2026-10-16T21:20:20Z</dcterms:created>
  <dcterms:modified xsi:type="dcterms:W3CDTF">2026-10-16T21:20:20Z</dcterms:modified>
</cp:coreProperties>
</file>