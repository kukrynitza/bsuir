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Montserrat Medium" panose="00000600000000000000" pitchFamily="2" charset="-52"/>
      <p:regular r:id="rId13"/>
      <p:italic r:id="rId14"/>
    </p:embeddedFont>
  </p:embeddedFontLst>
  <p:defaultTextStyle>
    <a:defPPr>
      <a:defRPr lang="ru-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3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8698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4.jpeg"/><Relationship Id="rId5" Type="http://schemas.openxmlformats.org/officeDocument/2006/relationships/image" Target="../media/image2.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235660" y="1685449"/>
            <a:ext cx="7645479" cy="2140625"/>
          </a:xfrm>
          <a:prstGeom prst="rect">
            <a:avLst/>
          </a:prstGeom>
          <a:noFill/>
          <a:ln/>
        </p:spPr>
        <p:txBody>
          <a:bodyPr wrap="square" lIns="0" tIns="0" rIns="0" bIns="0" rtlCol="0" anchor="t"/>
          <a:lstStyle/>
          <a:p>
            <a:pPr marL="0" indent="0">
              <a:lnSpc>
                <a:spcPts val="5600"/>
              </a:lnSpc>
              <a:buNone/>
            </a:pPr>
            <a:r>
              <a:rPr lang="en-US" sz="4450" b="1" dirty="0">
                <a:solidFill>
                  <a:srgbClr val="FFB393"/>
                </a:solidFill>
                <a:latin typeface="Brygada 1918 Bold" pitchFamily="34" charset="0"/>
                <a:ea typeface="Brygada 1918 Bold" pitchFamily="34" charset="-122"/>
                <a:cs typeface="Brygada 1918 Bold" pitchFamily="34" charset="-120"/>
              </a:rPr>
              <a:t>Оккупация Германией стран Европы во Второй Мировой Войне</a:t>
            </a:r>
            <a:endParaRPr lang="en-US" sz="4450" dirty="0"/>
          </a:p>
        </p:txBody>
      </p:sp>
      <p:sp>
        <p:nvSpPr>
          <p:cNvPr id="4" name="Text 1"/>
          <p:cNvSpPr/>
          <p:nvPr/>
        </p:nvSpPr>
        <p:spPr>
          <a:xfrm>
            <a:off x="6235660" y="4147185"/>
            <a:ext cx="7645479" cy="2396966"/>
          </a:xfrm>
          <a:prstGeom prst="rect">
            <a:avLst/>
          </a:prstGeom>
          <a:noFill/>
          <a:ln/>
        </p:spPr>
        <p:txBody>
          <a:bodyPr wrap="square" lIns="0" tIns="0" rIns="0" bIns="0" rtlCol="0" anchor="t"/>
          <a:lstStyle/>
          <a:p>
            <a:pPr marL="0" indent="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Военная оккупация одной страны другой часто влечет за собой лишения. Но оккупация нацистской Германией во Второй мировой войне превзошла все предыдущие примеры по масштабу и жестокости. С 1940 по 1944 год Германия контролировала большую часть Европы, проводя политику, особенно в Восточной Европе, направленную на уничтожение миллионов людей.</a:t>
            </a:r>
            <a:endParaRPr lang="en-US" sz="1650" dirty="0"/>
          </a:p>
        </p:txBody>
      </p:sp>
      <p:pic>
        <p:nvPicPr>
          <p:cNvPr id="10" name="Рисунок 9">
            <a:extLst>
              <a:ext uri="{FF2B5EF4-FFF2-40B4-BE49-F238E27FC236}">
                <a16:creationId xmlns:a16="http://schemas.microsoft.com/office/drawing/2014/main" id="{E1134491-9FBC-4907-86BB-68B7F65501CC}"/>
              </a:ext>
            </a:extLst>
          </p:cNvPr>
          <p:cNvPicPr>
            <a:picLocks noChangeAspect="1"/>
          </p:cNvPicPr>
          <p:nvPr/>
        </p:nvPicPr>
        <p:blipFill>
          <a:blip r:embed="rId3"/>
          <a:stretch>
            <a:fillRect/>
          </a:stretch>
        </p:blipFill>
        <p:spPr>
          <a:xfrm>
            <a:off x="12725134" y="7515125"/>
            <a:ext cx="1905266" cy="714475"/>
          </a:xfrm>
          <a:prstGeom prst="rect">
            <a:avLst/>
          </a:prstGeom>
        </p:spPr>
      </p:pic>
      <p:pic>
        <p:nvPicPr>
          <p:cNvPr id="3074" name="Picture 2">
            <a:extLst>
              <a:ext uri="{FF2B5EF4-FFF2-40B4-BE49-F238E27FC236}">
                <a16:creationId xmlns:a16="http://schemas.microsoft.com/office/drawing/2014/main" id="{48B2CD5E-A7B4-9A34-0925-5230ABB9AA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6059487" cy="822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49260" y="1553408"/>
            <a:ext cx="13131879" cy="1427083"/>
          </a:xfrm>
          <a:prstGeom prst="rect">
            <a:avLst/>
          </a:prstGeom>
          <a:noFill/>
          <a:ln/>
        </p:spPr>
        <p:txBody>
          <a:bodyPr wrap="square" lIns="0" tIns="0" rIns="0" bIns="0" rtlCol="0" anchor="t"/>
          <a:lstStyle/>
          <a:p>
            <a:pPr marL="0" indent="0">
              <a:lnSpc>
                <a:spcPts val="5600"/>
              </a:lnSpc>
              <a:buNone/>
            </a:pPr>
            <a:r>
              <a:rPr lang="en-US" sz="4450" b="1" dirty="0">
                <a:solidFill>
                  <a:srgbClr val="FFB393"/>
                </a:solidFill>
                <a:latin typeface="Brygada 1918 Bold" pitchFamily="34" charset="0"/>
                <a:ea typeface="Brygada 1918 Bold" pitchFamily="34" charset="-122"/>
                <a:cs typeface="Brygada 1918 Bold" pitchFamily="34" charset="-120"/>
              </a:rPr>
              <a:t>Экономическая политика на оккупированных территориях</a:t>
            </a:r>
            <a:endParaRPr lang="en-US" sz="4450" dirty="0"/>
          </a:p>
        </p:txBody>
      </p:sp>
      <p:sp>
        <p:nvSpPr>
          <p:cNvPr id="3" name="Text 1"/>
          <p:cNvSpPr/>
          <p:nvPr/>
        </p:nvSpPr>
        <p:spPr>
          <a:xfrm>
            <a:off x="749260" y="3515677"/>
            <a:ext cx="2854643" cy="356830"/>
          </a:xfrm>
          <a:prstGeom prst="rect">
            <a:avLst/>
          </a:prstGeom>
          <a:noFill/>
          <a:ln/>
        </p:spPr>
        <p:txBody>
          <a:bodyPr wrap="none" lIns="0" tIns="0" rIns="0" bIns="0" rtlCol="0" anchor="t"/>
          <a:lstStyle/>
          <a:p>
            <a:pPr marL="0" indent="0">
              <a:lnSpc>
                <a:spcPts val="2800"/>
              </a:lnSpc>
              <a:buNone/>
            </a:pPr>
            <a:r>
              <a:rPr lang="en-US" sz="2200" b="1" dirty="0">
                <a:solidFill>
                  <a:srgbClr val="FFB393"/>
                </a:solidFill>
                <a:latin typeface="Brygada 1918 Bold" pitchFamily="34" charset="0"/>
                <a:ea typeface="Brygada 1918 Bold" pitchFamily="34" charset="-122"/>
                <a:cs typeface="Brygada 1918 Bold" pitchFamily="34" charset="-120"/>
              </a:rPr>
              <a:t>Западная Европа</a:t>
            </a:r>
            <a:endParaRPr lang="en-US" sz="2200" dirty="0"/>
          </a:p>
        </p:txBody>
      </p:sp>
      <p:sp>
        <p:nvSpPr>
          <p:cNvPr id="4" name="Text 2"/>
          <p:cNvSpPr/>
          <p:nvPr/>
        </p:nvSpPr>
        <p:spPr>
          <a:xfrm>
            <a:off x="749260" y="4086582"/>
            <a:ext cx="6304836" cy="2396966"/>
          </a:xfrm>
          <a:prstGeom prst="rect">
            <a:avLst/>
          </a:prstGeom>
          <a:noFill/>
          <a:ln/>
        </p:spPr>
        <p:txBody>
          <a:bodyPr wrap="square" lIns="0" tIns="0" rIns="0" bIns="0" rtlCol="0" anchor="t"/>
          <a:lstStyle/>
          <a:p>
            <a:pPr marL="0" indent="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В Западной и Северной Европе, где с оккупированными странами обращались относительно мягко, немцы использовали экономические ресурсы завоеванных стран в интересах Германии. Это выражалось в низких зарплатах, нехватке продовольствия, ухудшении здоровья и принудительном труде в Германии.</a:t>
            </a:r>
            <a:endParaRPr lang="en-US" sz="1650" dirty="0"/>
          </a:p>
        </p:txBody>
      </p:sp>
      <p:sp>
        <p:nvSpPr>
          <p:cNvPr id="5" name="Text 3"/>
          <p:cNvSpPr/>
          <p:nvPr/>
        </p:nvSpPr>
        <p:spPr>
          <a:xfrm>
            <a:off x="7583924" y="3515677"/>
            <a:ext cx="2854643" cy="356830"/>
          </a:xfrm>
          <a:prstGeom prst="rect">
            <a:avLst/>
          </a:prstGeom>
          <a:noFill/>
          <a:ln/>
        </p:spPr>
        <p:txBody>
          <a:bodyPr wrap="none" lIns="0" tIns="0" rIns="0" bIns="0" rtlCol="0" anchor="t"/>
          <a:lstStyle/>
          <a:p>
            <a:pPr marL="0" indent="0">
              <a:lnSpc>
                <a:spcPts val="2800"/>
              </a:lnSpc>
              <a:buNone/>
            </a:pPr>
            <a:r>
              <a:rPr lang="en-US" sz="2200" b="1" dirty="0">
                <a:solidFill>
                  <a:srgbClr val="FFB393"/>
                </a:solidFill>
                <a:latin typeface="Brygada 1918 Bold" pitchFamily="34" charset="0"/>
                <a:ea typeface="Brygada 1918 Bold" pitchFamily="34" charset="-122"/>
                <a:cs typeface="Brygada 1918 Bold" pitchFamily="34" charset="-120"/>
              </a:rPr>
              <a:t>Восточная Европа</a:t>
            </a:r>
            <a:endParaRPr lang="en-US" sz="2200" dirty="0"/>
          </a:p>
        </p:txBody>
      </p:sp>
      <p:sp>
        <p:nvSpPr>
          <p:cNvPr id="6" name="Text 4"/>
          <p:cNvSpPr/>
          <p:nvPr/>
        </p:nvSpPr>
        <p:spPr>
          <a:xfrm>
            <a:off x="7583924" y="4086582"/>
            <a:ext cx="6304836" cy="2054543"/>
          </a:xfrm>
          <a:prstGeom prst="rect">
            <a:avLst/>
          </a:prstGeom>
          <a:noFill/>
          <a:ln/>
        </p:spPr>
        <p:txBody>
          <a:bodyPr wrap="square" lIns="0" tIns="0" rIns="0" bIns="0" rtlCol="0" anchor="t"/>
          <a:lstStyle/>
          <a:p>
            <a:pPr marL="0" indent="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В Восточной и Юго-Восточной Европе немецкая экономическая политика сводилась к грабежу. Немцы забирали все, что могли, оставляя местным жителям минимум средств к существованию. Целью было полное экономическое подчинение и эксплуатация ресурсов.</a:t>
            </a:r>
            <a:endParaRPr lang="en-US" sz="1650" dirty="0"/>
          </a:p>
        </p:txBody>
      </p:sp>
      <p:pic>
        <p:nvPicPr>
          <p:cNvPr id="8" name="Рисунок 7">
            <a:extLst>
              <a:ext uri="{FF2B5EF4-FFF2-40B4-BE49-F238E27FC236}">
                <a16:creationId xmlns:a16="http://schemas.microsoft.com/office/drawing/2014/main" id="{6C9E5CD2-59F0-4A8D-B051-7E3A9BF95338}"/>
              </a:ext>
            </a:extLst>
          </p:cNvPr>
          <p:cNvPicPr>
            <a:picLocks noChangeAspect="1"/>
          </p:cNvPicPr>
          <p:nvPr/>
        </p:nvPicPr>
        <p:blipFill>
          <a:blip r:embed="rId3"/>
          <a:stretch>
            <a:fillRect/>
          </a:stretch>
        </p:blipFill>
        <p:spPr>
          <a:xfrm>
            <a:off x="12725134" y="7525758"/>
            <a:ext cx="1905266" cy="7144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090999" y="611743"/>
            <a:ext cx="7934801" cy="1151573"/>
          </a:xfrm>
          <a:prstGeom prst="rect">
            <a:avLst/>
          </a:prstGeom>
          <a:noFill/>
          <a:ln/>
        </p:spPr>
        <p:txBody>
          <a:bodyPr wrap="square" lIns="0" tIns="0" rIns="0" bIns="0" rtlCol="0" anchor="t"/>
          <a:lstStyle/>
          <a:p>
            <a:pPr marL="0" indent="0">
              <a:lnSpc>
                <a:spcPts val="4500"/>
              </a:lnSpc>
              <a:buNone/>
            </a:pPr>
            <a:r>
              <a:rPr lang="en-US" sz="3600" b="1" dirty="0">
                <a:solidFill>
                  <a:srgbClr val="FFB393"/>
                </a:solidFill>
                <a:latin typeface="Brygada 1918 Bold" pitchFamily="34" charset="0"/>
                <a:ea typeface="Brygada 1918 Bold" pitchFamily="34" charset="-122"/>
                <a:cs typeface="Brygada 1918 Bold" pitchFamily="34" charset="-120"/>
              </a:rPr>
              <a:t>Польша: Политика уничтожения культуры</a:t>
            </a:r>
            <a:endParaRPr lang="en-US" sz="3600" dirty="0"/>
          </a:p>
        </p:txBody>
      </p:sp>
      <p:sp>
        <p:nvSpPr>
          <p:cNvPr id="4" name="Shape 1"/>
          <p:cNvSpPr/>
          <p:nvPr/>
        </p:nvSpPr>
        <p:spPr>
          <a:xfrm>
            <a:off x="6338649" y="2022396"/>
            <a:ext cx="22860" cy="5595342"/>
          </a:xfrm>
          <a:prstGeom prst="roundRect">
            <a:avLst>
              <a:gd name="adj" fmla="val 113354"/>
            </a:avLst>
          </a:prstGeom>
          <a:solidFill>
            <a:srgbClr val="662E42"/>
          </a:solidFill>
          <a:ln/>
        </p:spPr>
        <p:txBody>
          <a:bodyPr/>
          <a:lstStyle/>
          <a:p>
            <a:endParaRPr lang="ru-BY"/>
          </a:p>
        </p:txBody>
      </p:sp>
      <p:sp>
        <p:nvSpPr>
          <p:cNvPr id="5" name="Shape 2"/>
          <p:cNvSpPr/>
          <p:nvPr/>
        </p:nvSpPr>
        <p:spPr>
          <a:xfrm>
            <a:off x="6521529" y="2399586"/>
            <a:ext cx="604599" cy="22860"/>
          </a:xfrm>
          <a:prstGeom prst="roundRect">
            <a:avLst>
              <a:gd name="adj" fmla="val 113354"/>
            </a:avLst>
          </a:prstGeom>
          <a:solidFill>
            <a:srgbClr val="662E42"/>
          </a:solidFill>
          <a:ln/>
        </p:spPr>
        <p:txBody>
          <a:bodyPr/>
          <a:lstStyle/>
          <a:p>
            <a:endParaRPr lang="ru-BY"/>
          </a:p>
        </p:txBody>
      </p:sp>
      <p:sp>
        <p:nvSpPr>
          <p:cNvPr id="6" name="Shape 3"/>
          <p:cNvSpPr/>
          <p:nvPr/>
        </p:nvSpPr>
        <p:spPr>
          <a:xfrm>
            <a:off x="6155769" y="2216706"/>
            <a:ext cx="388620" cy="388620"/>
          </a:xfrm>
          <a:prstGeom prst="roundRect">
            <a:avLst>
              <a:gd name="adj" fmla="val 6668"/>
            </a:avLst>
          </a:prstGeom>
          <a:solidFill>
            <a:srgbClr val="4D1529"/>
          </a:solidFill>
          <a:ln/>
        </p:spPr>
        <p:txBody>
          <a:bodyPr/>
          <a:lstStyle/>
          <a:p>
            <a:endParaRPr lang="ru-BY"/>
          </a:p>
        </p:txBody>
      </p:sp>
      <p:sp>
        <p:nvSpPr>
          <p:cNvPr id="7" name="Text 4"/>
          <p:cNvSpPr/>
          <p:nvPr/>
        </p:nvSpPr>
        <p:spPr>
          <a:xfrm>
            <a:off x="6280904" y="2272784"/>
            <a:ext cx="138232" cy="276344"/>
          </a:xfrm>
          <a:prstGeom prst="rect">
            <a:avLst/>
          </a:prstGeom>
          <a:noFill/>
          <a:ln/>
        </p:spPr>
        <p:txBody>
          <a:bodyPr wrap="none" lIns="0" tIns="0" rIns="0" bIns="0" rtlCol="0" anchor="t"/>
          <a:lstStyle/>
          <a:p>
            <a:pPr marL="0" indent="0" algn="ctr">
              <a:lnSpc>
                <a:spcPts val="2150"/>
              </a:lnSpc>
              <a:buNone/>
            </a:pPr>
            <a:r>
              <a:rPr lang="en-US" sz="2150" b="1" dirty="0">
                <a:solidFill>
                  <a:srgbClr val="F4CAB8"/>
                </a:solidFill>
                <a:latin typeface="Brygada 1918 Bold" pitchFamily="34" charset="0"/>
                <a:ea typeface="Brygada 1918 Bold" pitchFamily="34" charset="-122"/>
                <a:cs typeface="Brygada 1918 Bold" pitchFamily="34" charset="-120"/>
              </a:rPr>
              <a:t>1</a:t>
            </a:r>
            <a:endParaRPr lang="en-US" sz="2150" dirty="0"/>
          </a:p>
        </p:txBody>
      </p:sp>
      <p:sp>
        <p:nvSpPr>
          <p:cNvPr id="8" name="Text 5"/>
          <p:cNvSpPr/>
          <p:nvPr/>
        </p:nvSpPr>
        <p:spPr>
          <a:xfrm>
            <a:off x="7300198" y="2195036"/>
            <a:ext cx="2303264" cy="287893"/>
          </a:xfrm>
          <a:prstGeom prst="rect">
            <a:avLst/>
          </a:prstGeom>
          <a:noFill/>
          <a:ln/>
        </p:spPr>
        <p:txBody>
          <a:bodyPr wrap="none" lIns="0" tIns="0" rIns="0" bIns="0" rtlCol="0" anchor="t"/>
          <a:lstStyle/>
          <a:p>
            <a:pPr marL="0" indent="0" algn="l">
              <a:lnSpc>
                <a:spcPts val="2250"/>
              </a:lnSpc>
              <a:buNone/>
            </a:pPr>
            <a:r>
              <a:rPr lang="en-US" sz="1800" b="1" dirty="0">
                <a:solidFill>
                  <a:srgbClr val="F4CAB8"/>
                </a:solidFill>
                <a:latin typeface="Brygada 1918 Bold" pitchFamily="34" charset="0"/>
                <a:ea typeface="Brygada 1918 Bold" pitchFamily="34" charset="-122"/>
                <a:cs typeface="Brygada 1918 Bold" pitchFamily="34" charset="-120"/>
              </a:rPr>
              <a:t>Разрушение</a:t>
            </a:r>
            <a:endParaRPr lang="en-US" sz="1800" dirty="0"/>
          </a:p>
        </p:txBody>
      </p:sp>
      <p:sp>
        <p:nvSpPr>
          <p:cNvPr id="9" name="Text 6"/>
          <p:cNvSpPr/>
          <p:nvPr/>
        </p:nvSpPr>
        <p:spPr>
          <a:xfrm>
            <a:off x="7300198" y="2586514"/>
            <a:ext cx="6725603" cy="1105376"/>
          </a:xfrm>
          <a:prstGeom prst="rect">
            <a:avLst/>
          </a:prstGeom>
          <a:noFill/>
          <a:ln/>
        </p:spPr>
        <p:txBody>
          <a:bodyPr wrap="square" lIns="0" tIns="0" rIns="0" bIns="0" rtlCol="0" anchor="t"/>
          <a:lstStyle/>
          <a:p>
            <a:pPr marL="0" indent="0" algn="l">
              <a:lnSpc>
                <a:spcPts val="2150"/>
              </a:lnSpc>
              <a:buNone/>
            </a:pPr>
            <a:r>
              <a:rPr lang="en-US" sz="1350" dirty="0">
                <a:solidFill>
                  <a:srgbClr val="F4CAB8"/>
                </a:solidFill>
                <a:latin typeface="Montserrat Medium" pitchFamily="34" charset="0"/>
                <a:ea typeface="Montserrat Medium" pitchFamily="34" charset="-122"/>
                <a:cs typeface="Montserrat Medium" pitchFamily="34" charset="-120"/>
              </a:rPr>
              <a:t>После завоевания Польши в 1939 году нацисты приступили к реализации планов по уничтожению экономической, культурной и политической структуры страны. Гитлер приказал превратить Польшу в «груду обломков».</a:t>
            </a:r>
            <a:endParaRPr lang="en-US" sz="1350" dirty="0"/>
          </a:p>
        </p:txBody>
      </p:sp>
      <p:sp>
        <p:nvSpPr>
          <p:cNvPr id="10" name="Shape 7"/>
          <p:cNvSpPr/>
          <p:nvPr/>
        </p:nvSpPr>
        <p:spPr>
          <a:xfrm>
            <a:off x="6521529" y="4414361"/>
            <a:ext cx="604599" cy="22860"/>
          </a:xfrm>
          <a:prstGeom prst="roundRect">
            <a:avLst>
              <a:gd name="adj" fmla="val 113354"/>
            </a:avLst>
          </a:prstGeom>
          <a:solidFill>
            <a:srgbClr val="662E42"/>
          </a:solidFill>
          <a:ln/>
        </p:spPr>
        <p:txBody>
          <a:bodyPr/>
          <a:lstStyle/>
          <a:p>
            <a:endParaRPr lang="ru-BY"/>
          </a:p>
        </p:txBody>
      </p:sp>
      <p:sp>
        <p:nvSpPr>
          <p:cNvPr id="11" name="Shape 8"/>
          <p:cNvSpPr/>
          <p:nvPr/>
        </p:nvSpPr>
        <p:spPr>
          <a:xfrm>
            <a:off x="6155769" y="4231481"/>
            <a:ext cx="388620" cy="388620"/>
          </a:xfrm>
          <a:prstGeom prst="roundRect">
            <a:avLst>
              <a:gd name="adj" fmla="val 6668"/>
            </a:avLst>
          </a:prstGeom>
          <a:solidFill>
            <a:srgbClr val="4D1529"/>
          </a:solidFill>
          <a:ln/>
        </p:spPr>
        <p:txBody>
          <a:bodyPr/>
          <a:lstStyle/>
          <a:p>
            <a:endParaRPr lang="ru-BY"/>
          </a:p>
        </p:txBody>
      </p:sp>
      <p:sp>
        <p:nvSpPr>
          <p:cNvPr id="12" name="Text 9"/>
          <p:cNvSpPr/>
          <p:nvPr/>
        </p:nvSpPr>
        <p:spPr>
          <a:xfrm>
            <a:off x="6271260" y="4287560"/>
            <a:ext cx="157520" cy="276344"/>
          </a:xfrm>
          <a:prstGeom prst="rect">
            <a:avLst/>
          </a:prstGeom>
          <a:noFill/>
          <a:ln/>
        </p:spPr>
        <p:txBody>
          <a:bodyPr wrap="none" lIns="0" tIns="0" rIns="0" bIns="0" rtlCol="0" anchor="t"/>
          <a:lstStyle/>
          <a:p>
            <a:pPr marL="0" indent="0" algn="ctr">
              <a:lnSpc>
                <a:spcPts val="2150"/>
              </a:lnSpc>
              <a:buNone/>
            </a:pPr>
            <a:r>
              <a:rPr lang="en-US" sz="2150" b="1" dirty="0">
                <a:solidFill>
                  <a:srgbClr val="F4CAB8"/>
                </a:solidFill>
                <a:latin typeface="Brygada 1918 Bold" pitchFamily="34" charset="0"/>
                <a:ea typeface="Brygada 1918 Bold" pitchFamily="34" charset="-122"/>
                <a:cs typeface="Brygada 1918 Bold" pitchFamily="34" charset="-120"/>
              </a:rPr>
              <a:t>2</a:t>
            </a:r>
            <a:endParaRPr lang="en-US" sz="2150" dirty="0"/>
          </a:p>
        </p:txBody>
      </p:sp>
      <p:sp>
        <p:nvSpPr>
          <p:cNvPr id="13" name="Text 10"/>
          <p:cNvSpPr/>
          <p:nvPr/>
        </p:nvSpPr>
        <p:spPr>
          <a:xfrm>
            <a:off x="7300198" y="4209812"/>
            <a:ext cx="2303264" cy="287893"/>
          </a:xfrm>
          <a:prstGeom prst="rect">
            <a:avLst/>
          </a:prstGeom>
          <a:noFill/>
          <a:ln/>
        </p:spPr>
        <p:txBody>
          <a:bodyPr wrap="none" lIns="0" tIns="0" rIns="0" bIns="0" rtlCol="0" anchor="t"/>
          <a:lstStyle/>
          <a:p>
            <a:pPr marL="0" indent="0" algn="l">
              <a:lnSpc>
                <a:spcPts val="2250"/>
              </a:lnSpc>
              <a:buNone/>
            </a:pPr>
            <a:r>
              <a:rPr lang="en-US" sz="1800" b="1" dirty="0">
                <a:solidFill>
                  <a:srgbClr val="F4CAB8"/>
                </a:solidFill>
                <a:latin typeface="Brygada 1918 Bold" pitchFamily="34" charset="0"/>
                <a:ea typeface="Brygada 1918 Bold" pitchFamily="34" charset="-122"/>
                <a:cs typeface="Brygada 1918 Bold" pitchFamily="34" charset="-120"/>
              </a:rPr>
              <a:t>Террор</a:t>
            </a:r>
            <a:endParaRPr lang="en-US" sz="1800" dirty="0"/>
          </a:p>
        </p:txBody>
      </p:sp>
      <p:sp>
        <p:nvSpPr>
          <p:cNvPr id="14" name="Text 11"/>
          <p:cNvSpPr/>
          <p:nvPr/>
        </p:nvSpPr>
        <p:spPr>
          <a:xfrm>
            <a:off x="7300198" y="4601289"/>
            <a:ext cx="6725603" cy="1105376"/>
          </a:xfrm>
          <a:prstGeom prst="rect">
            <a:avLst/>
          </a:prstGeom>
          <a:noFill/>
          <a:ln/>
        </p:spPr>
        <p:txBody>
          <a:bodyPr wrap="square" lIns="0" tIns="0" rIns="0" bIns="0" rtlCol="0" anchor="t"/>
          <a:lstStyle/>
          <a:p>
            <a:pPr marL="0" indent="0" algn="l">
              <a:lnSpc>
                <a:spcPts val="2150"/>
              </a:lnSpc>
              <a:buNone/>
            </a:pPr>
            <a:r>
              <a:rPr lang="en-US" sz="1350" dirty="0">
                <a:solidFill>
                  <a:srgbClr val="F4CAB8"/>
                </a:solidFill>
                <a:latin typeface="Montserrat Medium" pitchFamily="34" charset="0"/>
                <a:ea typeface="Montserrat Medium" pitchFamily="34" charset="-122"/>
                <a:cs typeface="Montserrat Medium" pitchFamily="34" charset="-120"/>
              </a:rPr>
              <a:t>Первая волна террора привела к убийству 60 000 поляков и заключению в тюрьмы тысяч других. Нацисты планировали уничтожить образовательную систему, чтобы не допустить появления новых образованных людей.</a:t>
            </a:r>
            <a:endParaRPr lang="en-US" sz="1350" dirty="0"/>
          </a:p>
        </p:txBody>
      </p:sp>
      <p:sp>
        <p:nvSpPr>
          <p:cNvPr id="15" name="Shape 12"/>
          <p:cNvSpPr/>
          <p:nvPr/>
        </p:nvSpPr>
        <p:spPr>
          <a:xfrm>
            <a:off x="6521529" y="6429137"/>
            <a:ext cx="604599" cy="22860"/>
          </a:xfrm>
          <a:prstGeom prst="roundRect">
            <a:avLst>
              <a:gd name="adj" fmla="val 113354"/>
            </a:avLst>
          </a:prstGeom>
          <a:solidFill>
            <a:srgbClr val="662E42"/>
          </a:solidFill>
          <a:ln/>
        </p:spPr>
        <p:txBody>
          <a:bodyPr/>
          <a:lstStyle/>
          <a:p>
            <a:endParaRPr lang="ru-BY"/>
          </a:p>
        </p:txBody>
      </p:sp>
      <p:sp>
        <p:nvSpPr>
          <p:cNvPr id="16" name="Shape 13"/>
          <p:cNvSpPr/>
          <p:nvPr/>
        </p:nvSpPr>
        <p:spPr>
          <a:xfrm>
            <a:off x="6155769" y="6246257"/>
            <a:ext cx="388620" cy="388620"/>
          </a:xfrm>
          <a:prstGeom prst="roundRect">
            <a:avLst>
              <a:gd name="adj" fmla="val 6668"/>
            </a:avLst>
          </a:prstGeom>
          <a:solidFill>
            <a:srgbClr val="4D1529"/>
          </a:solidFill>
          <a:ln/>
        </p:spPr>
        <p:txBody>
          <a:bodyPr/>
          <a:lstStyle/>
          <a:p>
            <a:endParaRPr lang="ru-BY"/>
          </a:p>
        </p:txBody>
      </p:sp>
      <p:sp>
        <p:nvSpPr>
          <p:cNvPr id="17" name="Text 14"/>
          <p:cNvSpPr/>
          <p:nvPr/>
        </p:nvSpPr>
        <p:spPr>
          <a:xfrm>
            <a:off x="6265783" y="6302335"/>
            <a:ext cx="168593" cy="276344"/>
          </a:xfrm>
          <a:prstGeom prst="rect">
            <a:avLst/>
          </a:prstGeom>
          <a:noFill/>
          <a:ln/>
        </p:spPr>
        <p:txBody>
          <a:bodyPr wrap="none" lIns="0" tIns="0" rIns="0" bIns="0" rtlCol="0" anchor="t"/>
          <a:lstStyle/>
          <a:p>
            <a:pPr marL="0" indent="0" algn="ctr">
              <a:lnSpc>
                <a:spcPts val="2150"/>
              </a:lnSpc>
              <a:buNone/>
            </a:pPr>
            <a:r>
              <a:rPr lang="en-US" sz="2150" b="1" dirty="0">
                <a:solidFill>
                  <a:srgbClr val="F4CAB8"/>
                </a:solidFill>
                <a:latin typeface="Brygada 1918 Bold" pitchFamily="34" charset="0"/>
                <a:ea typeface="Brygada 1918 Bold" pitchFamily="34" charset="-122"/>
                <a:cs typeface="Brygada 1918 Bold" pitchFamily="34" charset="-120"/>
              </a:rPr>
              <a:t>3</a:t>
            </a:r>
            <a:endParaRPr lang="en-US" sz="2150" dirty="0"/>
          </a:p>
        </p:txBody>
      </p:sp>
      <p:sp>
        <p:nvSpPr>
          <p:cNvPr id="18" name="Text 15"/>
          <p:cNvSpPr/>
          <p:nvPr/>
        </p:nvSpPr>
        <p:spPr>
          <a:xfrm>
            <a:off x="7300198" y="6224588"/>
            <a:ext cx="2303264" cy="287893"/>
          </a:xfrm>
          <a:prstGeom prst="rect">
            <a:avLst/>
          </a:prstGeom>
          <a:noFill/>
          <a:ln/>
        </p:spPr>
        <p:txBody>
          <a:bodyPr wrap="none" lIns="0" tIns="0" rIns="0" bIns="0" rtlCol="0" anchor="t"/>
          <a:lstStyle/>
          <a:p>
            <a:pPr marL="0" indent="0" algn="l">
              <a:lnSpc>
                <a:spcPts val="2250"/>
              </a:lnSpc>
              <a:buNone/>
            </a:pPr>
            <a:r>
              <a:rPr lang="en-US" sz="1800" b="1" dirty="0">
                <a:solidFill>
                  <a:srgbClr val="F4CAB8"/>
                </a:solidFill>
                <a:latin typeface="Brygada 1918 Bold" pitchFamily="34" charset="0"/>
                <a:ea typeface="Brygada 1918 Bold" pitchFamily="34" charset="-122"/>
                <a:cs typeface="Brygada 1918 Bold" pitchFamily="34" charset="-120"/>
              </a:rPr>
              <a:t>Сопротивление</a:t>
            </a:r>
            <a:endParaRPr lang="en-US" sz="1800" dirty="0"/>
          </a:p>
        </p:txBody>
      </p:sp>
      <p:sp>
        <p:nvSpPr>
          <p:cNvPr id="19" name="Text 16"/>
          <p:cNvSpPr/>
          <p:nvPr/>
        </p:nvSpPr>
        <p:spPr>
          <a:xfrm>
            <a:off x="7300198" y="6616065"/>
            <a:ext cx="6725603" cy="829032"/>
          </a:xfrm>
          <a:prstGeom prst="rect">
            <a:avLst/>
          </a:prstGeom>
          <a:noFill/>
          <a:ln/>
        </p:spPr>
        <p:txBody>
          <a:bodyPr wrap="square" lIns="0" tIns="0" rIns="0" bIns="0" rtlCol="0" anchor="t"/>
          <a:lstStyle/>
          <a:p>
            <a:pPr marL="0" indent="0" algn="l">
              <a:lnSpc>
                <a:spcPts val="2150"/>
              </a:lnSpc>
              <a:buNone/>
            </a:pPr>
            <a:r>
              <a:rPr lang="en-US" sz="1350" dirty="0">
                <a:solidFill>
                  <a:srgbClr val="F4CAB8"/>
                </a:solidFill>
                <a:latin typeface="Montserrat Medium" pitchFamily="34" charset="0"/>
                <a:ea typeface="Montserrat Medium" pitchFamily="34" charset="-122"/>
                <a:cs typeface="Montserrat Medium" pitchFamily="34" charset="-120"/>
              </a:rPr>
              <a:t>В ответ поляки создали секретные школы, включая университет с 2500 студентами. Польское подполье издавало более 1000 газет и журналов, демонстрируя решимость сохранить свою культуру и традиции.</a:t>
            </a:r>
            <a:endParaRPr lang="en-US" sz="1350" dirty="0"/>
          </a:p>
        </p:txBody>
      </p:sp>
      <p:pic>
        <p:nvPicPr>
          <p:cNvPr id="21" name="Рисунок 20">
            <a:extLst>
              <a:ext uri="{FF2B5EF4-FFF2-40B4-BE49-F238E27FC236}">
                <a16:creationId xmlns:a16="http://schemas.microsoft.com/office/drawing/2014/main" id="{386FB383-F7C4-4390-B0C1-9B6C5B6261BD}"/>
              </a:ext>
            </a:extLst>
          </p:cNvPr>
          <p:cNvPicPr>
            <a:picLocks noChangeAspect="1"/>
          </p:cNvPicPr>
          <p:nvPr/>
        </p:nvPicPr>
        <p:blipFill>
          <a:blip r:embed="rId4"/>
          <a:stretch>
            <a:fillRect/>
          </a:stretch>
        </p:blipFill>
        <p:spPr>
          <a:xfrm>
            <a:off x="12770854" y="7570381"/>
            <a:ext cx="1859546" cy="55289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85324" y="538520"/>
            <a:ext cx="7773352" cy="1958102"/>
          </a:xfrm>
          <a:prstGeom prst="rect">
            <a:avLst/>
          </a:prstGeom>
          <a:noFill/>
          <a:ln/>
        </p:spPr>
        <p:txBody>
          <a:bodyPr wrap="square" lIns="0" tIns="0" rIns="0" bIns="0" rtlCol="0" anchor="t"/>
          <a:lstStyle/>
          <a:p>
            <a:pPr marL="0" indent="0">
              <a:lnSpc>
                <a:spcPts val="5100"/>
              </a:lnSpc>
              <a:buNone/>
            </a:pPr>
            <a:r>
              <a:rPr lang="en-US" sz="4100" b="1" dirty="0">
                <a:solidFill>
                  <a:srgbClr val="FFB393"/>
                </a:solidFill>
                <a:latin typeface="Brygada 1918 Bold" pitchFamily="34" charset="0"/>
                <a:ea typeface="Brygada 1918 Bold" pitchFamily="34" charset="-122"/>
                <a:cs typeface="Brygada 1918 Bold" pitchFamily="34" charset="-120"/>
              </a:rPr>
              <a:t>Западная Европа: Изощренные методы грабежа</a:t>
            </a:r>
            <a:endParaRPr lang="en-US" sz="4100" dirty="0"/>
          </a:p>
        </p:txBody>
      </p:sp>
      <p:pic>
        <p:nvPicPr>
          <p:cNvPr id="4" name="Image 1" descr="preencoded.png"/>
          <p:cNvPicPr>
            <a:picLocks noChangeAspect="1"/>
          </p:cNvPicPr>
          <p:nvPr/>
        </p:nvPicPr>
        <p:blipFill>
          <a:blip r:embed="rId3"/>
          <a:stretch>
            <a:fillRect/>
          </a:stretch>
        </p:blipFill>
        <p:spPr>
          <a:xfrm>
            <a:off x="685324" y="2790349"/>
            <a:ext cx="489585" cy="489585"/>
          </a:xfrm>
          <a:prstGeom prst="rect">
            <a:avLst/>
          </a:prstGeom>
        </p:spPr>
      </p:pic>
      <p:sp>
        <p:nvSpPr>
          <p:cNvPr id="5" name="Text 1"/>
          <p:cNvSpPr/>
          <p:nvPr/>
        </p:nvSpPr>
        <p:spPr>
          <a:xfrm>
            <a:off x="685324" y="3475674"/>
            <a:ext cx="2395299" cy="326350"/>
          </a:xfrm>
          <a:prstGeom prst="rect">
            <a:avLst/>
          </a:prstGeom>
          <a:noFill/>
          <a:ln/>
        </p:spPr>
        <p:txBody>
          <a:bodyPr wrap="square" lIns="0" tIns="0" rIns="0" bIns="0" rtlCol="0" anchor="t"/>
          <a:lstStyle/>
          <a:p>
            <a:pPr marL="0" indent="0" algn="l">
              <a:lnSpc>
                <a:spcPts val="2550"/>
              </a:lnSpc>
              <a:buNone/>
            </a:pPr>
            <a:r>
              <a:rPr lang="en-US" sz="2050" b="1" dirty="0">
                <a:solidFill>
                  <a:srgbClr val="F4CAB8"/>
                </a:solidFill>
                <a:latin typeface="Brygada 1918 Bold" pitchFamily="34" charset="0"/>
                <a:ea typeface="Brygada 1918 Bold" pitchFamily="34" charset="-122"/>
                <a:cs typeface="Brygada 1918 Bold" pitchFamily="34" charset="-120"/>
              </a:rPr>
              <a:t>Оплата оккупации</a:t>
            </a:r>
            <a:endParaRPr lang="en-US" sz="2050" dirty="0"/>
          </a:p>
        </p:txBody>
      </p:sp>
      <p:sp>
        <p:nvSpPr>
          <p:cNvPr id="6" name="Text 2"/>
          <p:cNvSpPr/>
          <p:nvPr/>
        </p:nvSpPr>
        <p:spPr>
          <a:xfrm>
            <a:off x="695005" y="3919418"/>
            <a:ext cx="2395299" cy="3447098"/>
          </a:xfrm>
          <a:prstGeom prst="rect">
            <a:avLst/>
          </a:prstGeom>
          <a:noFill/>
          <a:ln/>
        </p:spPr>
        <p:txBody>
          <a:bodyPr wrap="square" lIns="0" tIns="0" rIns="0" bIns="0" rtlCol="0" anchor="t"/>
          <a:lstStyle/>
          <a:p>
            <a:pPr marL="0" indent="0" algn="l">
              <a:lnSpc>
                <a:spcPts val="2450"/>
              </a:lnSpc>
              <a:buNone/>
            </a:pPr>
            <a:r>
              <a:rPr lang="en-US" sz="1500" dirty="0">
                <a:solidFill>
                  <a:srgbClr val="F4CAB8"/>
                </a:solidFill>
                <a:latin typeface="Montserrat Medium" pitchFamily="34" charset="0"/>
                <a:ea typeface="Montserrat Medium" pitchFamily="34" charset="-122"/>
                <a:cs typeface="Montserrat Medium" pitchFamily="34" charset="-120"/>
              </a:rPr>
              <a:t>Немцы заставляли оккупированные страны платить за содержание оккупационных войск. Франция, самая богатая страна, платила более половины всех платежей, полученных немцами.</a:t>
            </a:r>
            <a:endParaRPr lang="en-US" sz="1500" dirty="0"/>
          </a:p>
        </p:txBody>
      </p:sp>
      <p:pic>
        <p:nvPicPr>
          <p:cNvPr id="7" name="Image 2" descr="preencoded.png"/>
          <p:cNvPicPr>
            <a:picLocks noChangeAspect="1"/>
          </p:cNvPicPr>
          <p:nvPr/>
        </p:nvPicPr>
        <p:blipFill>
          <a:blip r:embed="rId4"/>
          <a:stretch>
            <a:fillRect/>
          </a:stretch>
        </p:blipFill>
        <p:spPr>
          <a:xfrm>
            <a:off x="3374350" y="2790349"/>
            <a:ext cx="489585" cy="489585"/>
          </a:xfrm>
          <a:prstGeom prst="rect">
            <a:avLst/>
          </a:prstGeom>
        </p:spPr>
      </p:pic>
      <p:sp>
        <p:nvSpPr>
          <p:cNvPr id="8" name="Text 3"/>
          <p:cNvSpPr/>
          <p:nvPr/>
        </p:nvSpPr>
        <p:spPr>
          <a:xfrm>
            <a:off x="3374350" y="3475673"/>
            <a:ext cx="2395299" cy="326350"/>
          </a:xfrm>
          <a:prstGeom prst="rect">
            <a:avLst/>
          </a:prstGeom>
          <a:noFill/>
          <a:ln/>
        </p:spPr>
        <p:txBody>
          <a:bodyPr wrap="none" lIns="0" tIns="0" rIns="0" bIns="0" rtlCol="0" anchor="t"/>
          <a:lstStyle/>
          <a:p>
            <a:pPr marL="0" indent="0" algn="l">
              <a:lnSpc>
                <a:spcPts val="2550"/>
              </a:lnSpc>
              <a:buNone/>
            </a:pPr>
            <a:r>
              <a:rPr lang="en-US" sz="2050" b="1" dirty="0">
                <a:solidFill>
                  <a:srgbClr val="F4CAB8"/>
                </a:solidFill>
                <a:latin typeface="Brygada 1918 Bold" pitchFamily="34" charset="0"/>
                <a:ea typeface="Brygada 1918 Bold" pitchFamily="34" charset="-122"/>
                <a:cs typeface="Brygada 1918 Bold" pitchFamily="34" charset="-120"/>
              </a:rPr>
              <a:t>Валютный курс</a:t>
            </a:r>
            <a:endParaRPr lang="en-US" sz="2050" dirty="0"/>
          </a:p>
        </p:txBody>
      </p:sp>
      <p:sp>
        <p:nvSpPr>
          <p:cNvPr id="9" name="Text 4"/>
          <p:cNvSpPr/>
          <p:nvPr/>
        </p:nvSpPr>
        <p:spPr>
          <a:xfrm>
            <a:off x="3374350" y="3919418"/>
            <a:ext cx="2395299" cy="2506980"/>
          </a:xfrm>
          <a:prstGeom prst="rect">
            <a:avLst/>
          </a:prstGeom>
          <a:noFill/>
          <a:ln/>
        </p:spPr>
        <p:txBody>
          <a:bodyPr wrap="square" lIns="0" tIns="0" rIns="0" bIns="0" rtlCol="0" anchor="t"/>
          <a:lstStyle/>
          <a:p>
            <a:pPr marL="0" indent="0" algn="l">
              <a:lnSpc>
                <a:spcPts val="2450"/>
              </a:lnSpc>
              <a:buNone/>
            </a:pPr>
            <a:r>
              <a:rPr lang="en-US" sz="1500" dirty="0">
                <a:solidFill>
                  <a:srgbClr val="F4CAB8"/>
                </a:solidFill>
                <a:latin typeface="Montserrat Medium" pitchFamily="34" charset="0"/>
                <a:ea typeface="Montserrat Medium" pitchFamily="34" charset="-122"/>
                <a:cs typeface="Montserrat Medium" pitchFamily="34" charset="-120"/>
              </a:rPr>
              <a:t>Немцы устанавливали выгодный для себя курс марки по отношению к местным валютам, что позволяло немецким компаниям скупать местные предприятия.</a:t>
            </a:r>
            <a:endParaRPr lang="en-US" sz="1500" dirty="0"/>
          </a:p>
        </p:txBody>
      </p:sp>
      <p:pic>
        <p:nvPicPr>
          <p:cNvPr id="10" name="Image 3" descr="preencoded.png"/>
          <p:cNvPicPr>
            <a:picLocks noChangeAspect="1"/>
          </p:cNvPicPr>
          <p:nvPr/>
        </p:nvPicPr>
        <p:blipFill>
          <a:blip r:embed="rId5"/>
          <a:stretch>
            <a:fillRect/>
          </a:stretch>
        </p:blipFill>
        <p:spPr>
          <a:xfrm>
            <a:off x="6063377" y="2790349"/>
            <a:ext cx="489585" cy="489585"/>
          </a:xfrm>
          <a:prstGeom prst="rect">
            <a:avLst/>
          </a:prstGeom>
        </p:spPr>
      </p:pic>
      <p:sp>
        <p:nvSpPr>
          <p:cNvPr id="11" name="Text 5"/>
          <p:cNvSpPr/>
          <p:nvPr/>
        </p:nvSpPr>
        <p:spPr>
          <a:xfrm>
            <a:off x="6063377" y="3475673"/>
            <a:ext cx="2395299" cy="326350"/>
          </a:xfrm>
          <a:prstGeom prst="rect">
            <a:avLst/>
          </a:prstGeom>
          <a:noFill/>
          <a:ln/>
        </p:spPr>
        <p:txBody>
          <a:bodyPr wrap="none" lIns="0" tIns="0" rIns="0" bIns="0" rtlCol="0" anchor="t"/>
          <a:lstStyle/>
          <a:p>
            <a:pPr marL="0" indent="0" algn="l">
              <a:lnSpc>
                <a:spcPts val="2550"/>
              </a:lnSpc>
              <a:buNone/>
            </a:pPr>
            <a:r>
              <a:rPr lang="en-US" sz="2050" b="1" dirty="0">
                <a:solidFill>
                  <a:srgbClr val="F4CAB8"/>
                </a:solidFill>
                <a:latin typeface="Brygada 1918 Bold" pitchFamily="34" charset="0"/>
                <a:ea typeface="Brygada 1918 Bold" pitchFamily="34" charset="-122"/>
                <a:cs typeface="Brygada 1918 Bold" pitchFamily="34" charset="-120"/>
              </a:rPr>
              <a:t>Угроза силой</a:t>
            </a:r>
            <a:endParaRPr lang="en-US" sz="2050" dirty="0"/>
          </a:p>
        </p:txBody>
      </p:sp>
      <p:sp>
        <p:nvSpPr>
          <p:cNvPr id="12" name="Text 6"/>
          <p:cNvSpPr/>
          <p:nvPr/>
        </p:nvSpPr>
        <p:spPr>
          <a:xfrm>
            <a:off x="6063377" y="3919418"/>
            <a:ext cx="2395299" cy="3133725"/>
          </a:xfrm>
          <a:prstGeom prst="rect">
            <a:avLst/>
          </a:prstGeom>
          <a:noFill/>
          <a:ln/>
        </p:spPr>
        <p:txBody>
          <a:bodyPr wrap="square" lIns="0" tIns="0" rIns="0" bIns="0" rtlCol="0" anchor="t"/>
          <a:lstStyle/>
          <a:p>
            <a:pPr marL="0" indent="0" algn="l">
              <a:lnSpc>
                <a:spcPts val="2450"/>
              </a:lnSpc>
              <a:buNone/>
            </a:pPr>
            <a:r>
              <a:rPr lang="en-US" sz="1500" dirty="0">
                <a:solidFill>
                  <a:srgbClr val="F4CAB8"/>
                </a:solidFill>
                <a:latin typeface="Montserrat Medium" pitchFamily="34" charset="0"/>
                <a:ea typeface="Montserrat Medium" pitchFamily="34" charset="-122"/>
                <a:cs typeface="Montserrat Medium" pitchFamily="34" charset="-120"/>
              </a:rPr>
              <a:t>Отказ от экономических сделок с Германией был невозможен из-за угрозы применения военной силы. Экономические требования подкреплялись военной мощью.</a:t>
            </a:r>
            <a:endParaRPr lang="en-US" sz="1500" dirty="0"/>
          </a:p>
        </p:txBody>
      </p:sp>
      <p:pic>
        <p:nvPicPr>
          <p:cNvPr id="4098" name="Picture 2">
            <a:extLst>
              <a:ext uri="{FF2B5EF4-FFF2-40B4-BE49-F238E27FC236}">
                <a16:creationId xmlns:a16="http://schemas.microsoft.com/office/drawing/2014/main" id="{DFDCA156-A5C8-9748-C507-D744D4D11D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60753" y="-3343"/>
            <a:ext cx="5769647" cy="82329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3172"/>
          </a:xfrm>
          <a:prstGeom prst="rect">
            <a:avLst/>
          </a:prstGeom>
        </p:spPr>
      </p:pic>
      <p:sp>
        <p:nvSpPr>
          <p:cNvPr id="3" name="Text 0"/>
          <p:cNvSpPr/>
          <p:nvPr/>
        </p:nvSpPr>
        <p:spPr>
          <a:xfrm>
            <a:off x="6168390" y="535781"/>
            <a:ext cx="7780020" cy="1299210"/>
          </a:xfrm>
          <a:prstGeom prst="rect">
            <a:avLst/>
          </a:prstGeom>
          <a:noFill/>
          <a:ln/>
        </p:spPr>
        <p:txBody>
          <a:bodyPr wrap="square" lIns="0" tIns="0" rIns="0" bIns="0" rtlCol="0" anchor="t"/>
          <a:lstStyle/>
          <a:p>
            <a:pPr marL="0" indent="0">
              <a:lnSpc>
                <a:spcPts val="5100"/>
              </a:lnSpc>
              <a:buNone/>
            </a:pPr>
            <a:r>
              <a:rPr lang="en-US" sz="4050" b="1" dirty="0">
                <a:solidFill>
                  <a:srgbClr val="FFB393"/>
                </a:solidFill>
                <a:latin typeface="Brygada 1918 Bold" pitchFamily="34" charset="0"/>
                <a:ea typeface="Brygada 1918 Bold" pitchFamily="34" charset="-122"/>
                <a:cs typeface="Brygada 1918 Bold" pitchFamily="34" charset="-120"/>
              </a:rPr>
              <a:t>Нехватка продовольствия и черный рынок</a:t>
            </a:r>
            <a:endParaRPr lang="en-US" sz="4050" dirty="0"/>
          </a:p>
        </p:txBody>
      </p:sp>
      <p:sp>
        <p:nvSpPr>
          <p:cNvPr id="4" name="Shape 1"/>
          <p:cNvSpPr/>
          <p:nvPr/>
        </p:nvSpPr>
        <p:spPr>
          <a:xfrm>
            <a:off x="6168390" y="2346484"/>
            <a:ext cx="438388" cy="438388"/>
          </a:xfrm>
          <a:prstGeom prst="roundRect">
            <a:avLst>
              <a:gd name="adj" fmla="val 6668"/>
            </a:avLst>
          </a:prstGeom>
          <a:solidFill>
            <a:srgbClr val="4D1529"/>
          </a:solidFill>
          <a:ln/>
        </p:spPr>
        <p:txBody>
          <a:bodyPr/>
          <a:lstStyle/>
          <a:p>
            <a:endParaRPr lang="ru-BY"/>
          </a:p>
        </p:txBody>
      </p:sp>
      <p:sp>
        <p:nvSpPr>
          <p:cNvPr id="5" name="Text 2"/>
          <p:cNvSpPr/>
          <p:nvPr/>
        </p:nvSpPr>
        <p:spPr>
          <a:xfrm>
            <a:off x="6309598" y="2409706"/>
            <a:ext cx="155853" cy="311825"/>
          </a:xfrm>
          <a:prstGeom prst="rect">
            <a:avLst/>
          </a:prstGeom>
          <a:noFill/>
          <a:ln/>
        </p:spPr>
        <p:txBody>
          <a:bodyPr wrap="none" lIns="0" tIns="0" rIns="0" bIns="0" rtlCol="0" anchor="t"/>
          <a:lstStyle/>
          <a:p>
            <a:pPr marL="0" indent="0" algn="ctr">
              <a:lnSpc>
                <a:spcPts val="2450"/>
              </a:lnSpc>
              <a:buNone/>
            </a:pPr>
            <a:r>
              <a:rPr lang="en-US" sz="2450" b="1" dirty="0">
                <a:solidFill>
                  <a:srgbClr val="F4CAB8"/>
                </a:solidFill>
                <a:latin typeface="Brygada 1918 Bold" pitchFamily="34" charset="0"/>
                <a:ea typeface="Brygada 1918 Bold" pitchFamily="34" charset="-122"/>
                <a:cs typeface="Brygada 1918 Bold" pitchFamily="34" charset="-120"/>
              </a:rPr>
              <a:t>1</a:t>
            </a:r>
            <a:endParaRPr lang="en-US" sz="2450" dirty="0"/>
          </a:p>
        </p:txBody>
      </p:sp>
      <p:sp>
        <p:nvSpPr>
          <p:cNvPr id="6" name="Text 3"/>
          <p:cNvSpPr/>
          <p:nvPr/>
        </p:nvSpPr>
        <p:spPr>
          <a:xfrm>
            <a:off x="6801564" y="2346484"/>
            <a:ext cx="2598182" cy="324683"/>
          </a:xfrm>
          <a:prstGeom prst="rect">
            <a:avLst/>
          </a:prstGeom>
          <a:noFill/>
          <a:ln/>
        </p:spPr>
        <p:txBody>
          <a:bodyPr wrap="none" lIns="0" tIns="0" rIns="0" bIns="0" rtlCol="0" anchor="t"/>
          <a:lstStyle/>
          <a:p>
            <a:pPr marL="0" indent="0">
              <a:lnSpc>
                <a:spcPts val="2550"/>
              </a:lnSpc>
              <a:buNone/>
            </a:pPr>
            <a:r>
              <a:rPr lang="en-US" sz="2000" b="1" dirty="0">
                <a:solidFill>
                  <a:srgbClr val="F4CAB8"/>
                </a:solidFill>
                <a:latin typeface="Brygada 1918 Bold" pitchFamily="34" charset="0"/>
                <a:ea typeface="Brygada 1918 Bold" pitchFamily="34" charset="-122"/>
                <a:cs typeface="Brygada 1918 Bold" pitchFamily="34" charset="-120"/>
              </a:rPr>
              <a:t>Нормирование</a:t>
            </a:r>
            <a:endParaRPr lang="en-US" sz="2000" dirty="0"/>
          </a:p>
        </p:txBody>
      </p:sp>
      <p:sp>
        <p:nvSpPr>
          <p:cNvPr id="7" name="Text 4"/>
          <p:cNvSpPr/>
          <p:nvPr/>
        </p:nvSpPr>
        <p:spPr>
          <a:xfrm>
            <a:off x="6801564" y="2788087"/>
            <a:ext cx="3159443" cy="3118247"/>
          </a:xfrm>
          <a:prstGeom prst="rect">
            <a:avLst/>
          </a:prstGeom>
          <a:noFill/>
          <a:ln/>
        </p:spPr>
        <p:txBody>
          <a:bodyPr wrap="square" lIns="0" tIns="0" rIns="0" bIns="0" rtlCol="0" anchor="t"/>
          <a:lstStyle/>
          <a:p>
            <a:pPr marL="0" indent="0">
              <a:lnSpc>
                <a:spcPts val="2450"/>
              </a:lnSpc>
              <a:buNone/>
            </a:pPr>
            <a:r>
              <a:rPr lang="en-US" sz="1500" dirty="0">
                <a:solidFill>
                  <a:srgbClr val="F4CAB8"/>
                </a:solidFill>
                <a:latin typeface="Montserrat Medium" pitchFamily="34" charset="0"/>
                <a:ea typeface="Montserrat Medium" pitchFamily="34" charset="-122"/>
                <a:cs typeface="Montserrat Medium" pitchFamily="34" charset="-120"/>
              </a:rPr>
              <a:t>Германия стремилась обеспечить стабильные поставки сельскохозяйственной продукции домой, что приводило к дефициту продовольствия в оккупированных странах. Продукты питания и товары были нормированы.</a:t>
            </a:r>
            <a:endParaRPr lang="en-US" sz="1500" dirty="0"/>
          </a:p>
        </p:txBody>
      </p:sp>
      <p:sp>
        <p:nvSpPr>
          <p:cNvPr id="8" name="Shape 5"/>
          <p:cNvSpPr/>
          <p:nvPr/>
        </p:nvSpPr>
        <p:spPr>
          <a:xfrm>
            <a:off x="10155793" y="2346484"/>
            <a:ext cx="438388" cy="438388"/>
          </a:xfrm>
          <a:prstGeom prst="roundRect">
            <a:avLst>
              <a:gd name="adj" fmla="val 6668"/>
            </a:avLst>
          </a:prstGeom>
          <a:solidFill>
            <a:srgbClr val="4D1529"/>
          </a:solidFill>
          <a:ln/>
        </p:spPr>
        <p:txBody>
          <a:bodyPr/>
          <a:lstStyle/>
          <a:p>
            <a:endParaRPr lang="ru-BY"/>
          </a:p>
        </p:txBody>
      </p:sp>
      <p:sp>
        <p:nvSpPr>
          <p:cNvPr id="9" name="Text 6"/>
          <p:cNvSpPr/>
          <p:nvPr/>
        </p:nvSpPr>
        <p:spPr>
          <a:xfrm>
            <a:off x="10286048" y="2409706"/>
            <a:ext cx="177760" cy="311825"/>
          </a:xfrm>
          <a:prstGeom prst="rect">
            <a:avLst/>
          </a:prstGeom>
          <a:noFill/>
          <a:ln/>
        </p:spPr>
        <p:txBody>
          <a:bodyPr wrap="none" lIns="0" tIns="0" rIns="0" bIns="0" rtlCol="0" anchor="t"/>
          <a:lstStyle/>
          <a:p>
            <a:pPr marL="0" indent="0" algn="ctr">
              <a:lnSpc>
                <a:spcPts val="2450"/>
              </a:lnSpc>
              <a:buNone/>
            </a:pPr>
            <a:r>
              <a:rPr lang="en-US" sz="2450" b="1" dirty="0">
                <a:solidFill>
                  <a:srgbClr val="F4CAB8"/>
                </a:solidFill>
                <a:latin typeface="Brygada 1918 Bold" pitchFamily="34" charset="0"/>
                <a:ea typeface="Brygada 1918 Bold" pitchFamily="34" charset="-122"/>
                <a:cs typeface="Brygada 1918 Bold" pitchFamily="34" charset="-120"/>
              </a:rPr>
              <a:t>2</a:t>
            </a:r>
            <a:endParaRPr lang="en-US" sz="2450" dirty="0"/>
          </a:p>
        </p:txBody>
      </p:sp>
      <p:sp>
        <p:nvSpPr>
          <p:cNvPr id="10" name="Text 7"/>
          <p:cNvSpPr/>
          <p:nvPr/>
        </p:nvSpPr>
        <p:spPr>
          <a:xfrm>
            <a:off x="10788968" y="2346484"/>
            <a:ext cx="2598182" cy="324683"/>
          </a:xfrm>
          <a:prstGeom prst="rect">
            <a:avLst/>
          </a:prstGeom>
          <a:noFill/>
          <a:ln/>
        </p:spPr>
        <p:txBody>
          <a:bodyPr wrap="none" lIns="0" tIns="0" rIns="0" bIns="0" rtlCol="0" anchor="t"/>
          <a:lstStyle/>
          <a:p>
            <a:pPr marL="0" indent="0">
              <a:lnSpc>
                <a:spcPts val="2550"/>
              </a:lnSpc>
              <a:buNone/>
            </a:pPr>
            <a:r>
              <a:rPr lang="en-US" sz="2000" b="1" dirty="0">
                <a:solidFill>
                  <a:srgbClr val="F4CAB8"/>
                </a:solidFill>
                <a:latin typeface="Brygada 1918 Bold" pitchFamily="34" charset="0"/>
                <a:ea typeface="Brygada 1918 Bold" pitchFamily="34" charset="-122"/>
                <a:cs typeface="Brygada 1918 Bold" pitchFamily="34" charset="-120"/>
              </a:rPr>
              <a:t>Цены и дефицит</a:t>
            </a:r>
            <a:endParaRPr lang="en-US" sz="2000" dirty="0"/>
          </a:p>
        </p:txBody>
      </p:sp>
      <p:sp>
        <p:nvSpPr>
          <p:cNvPr id="11" name="Text 8"/>
          <p:cNvSpPr/>
          <p:nvPr/>
        </p:nvSpPr>
        <p:spPr>
          <a:xfrm>
            <a:off x="10788968" y="2788087"/>
            <a:ext cx="3159443" cy="2182773"/>
          </a:xfrm>
          <a:prstGeom prst="rect">
            <a:avLst/>
          </a:prstGeom>
          <a:noFill/>
          <a:ln/>
        </p:spPr>
        <p:txBody>
          <a:bodyPr wrap="square" lIns="0" tIns="0" rIns="0" bIns="0" rtlCol="0" anchor="t"/>
          <a:lstStyle/>
          <a:p>
            <a:pPr marL="0" indent="0">
              <a:lnSpc>
                <a:spcPts val="2450"/>
              </a:lnSpc>
              <a:buNone/>
            </a:pPr>
            <a:r>
              <a:rPr lang="en-US" sz="1500" dirty="0">
                <a:solidFill>
                  <a:srgbClr val="F4CAB8"/>
                </a:solidFill>
                <a:latin typeface="Montserrat Medium" pitchFamily="34" charset="0"/>
                <a:ea typeface="Montserrat Medium" pitchFamily="34" charset="-122"/>
                <a:cs typeface="Montserrat Medium" pitchFamily="34" charset="-120"/>
              </a:rPr>
              <a:t>Дефицит товаров приводил к высоким ценам и развитию черного рынка. Официальные пайки были недостаточны для поддержания нормальной жизнедеятельности.</a:t>
            </a:r>
            <a:endParaRPr lang="en-US" sz="1500" dirty="0"/>
          </a:p>
        </p:txBody>
      </p:sp>
      <p:sp>
        <p:nvSpPr>
          <p:cNvPr id="12" name="Shape 9"/>
          <p:cNvSpPr/>
          <p:nvPr/>
        </p:nvSpPr>
        <p:spPr>
          <a:xfrm>
            <a:off x="6168390" y="6320314"/>
            <a:ext cx="438388" cy="438388"/>
          </a:xfrm>
          <a:prstGeom prst="roundRect">
            <a:avLst>
              <a:gd name="adj" fmla="val 6668"/>
            </a:avLst>
          </a:prstGeom>
          <a:solidFill>
            <a:srgbClr val="4D1529"/>
          </a:solidFill>
          <a:ln/>
        </p:spPr>
        <p:txBody>
          <a:bodyPr/>
          <a:lstStyle/>
          <a:p>
            <a:endParaRPr lang="ru-BY"/>
          </a:p>
        </p:txBody>
      </p:sp>
      <p:sp>
        <p:nvSpPr>
          <p:cNvPr id="13" name="Text 10"/>
          <p:cNvSpPr/>
          <p:nvPr/>
        </p:nvSpPr>
        <p:spPr>
          <a:xfrm>
            <a:off x="6292453" y="6383536"/>
            <a:ext cx="190143" cy="311825"/>
          </a:xfrm>
          <a:prstGeom prst="rect">
            <a:avLst/>
          </a:prstGeom>
          <a:noFill/>
          <a:ln/>
        </p:spPr>
        <p:txBody>
          <a:bodyPr wrap="none" lIns="0" tIns="0" rIns="0" bIns="0" rtlCol="0" anchor="t"/>
          <a:lstStyle/>
          <a:p>
            <a:pPr marL="0" indent="0" algn="ctr">
              <a:lnSpc>
                <a:spcPts val="2450"/>
              </a:lnSpc>
              <a:buNone/>
            </a:pPr>
            <a:r>
              <a:rPr lang="en-US" sz="2450" b="1" dirty="0">
                <a:solidFill>
                  <a:srgbClr val="F4CAB8"/>
                </a:solidFill>
                <a:latin typeface="Brygada 1918 Bold" pitchFamily="34" charset="0"/>
                <a:ea typeface="Brygada 1918 Bold" pitchFamily="34" charset="-122"/>
                <a:cs typeface="Brygada 1918 Bold" pitchFamily="34" charset="-120"/>
              </a:rPr>
              <a:t>3</a:t>
            </a:r>
            <a:endParaRPr lang="en-US" sz="2450" dirty="0"/>
          </a:p>
        </p:txBody>
      </p:sp>
      <p:sp>
        <p:nvSpPr>
          <p:cNvPr id="14" name="Text 11"/>
          <p:cNvSpPr/>
          <p:nvPr/>
        </p:nvSpPr>
        <p:spPr>
          <a:xfrm>
            <a:off x="6801564" y="6320314"/>
            <a:ext cx="2598182" cy="324683"/>
          </a:xfrm>
          <a:prstGeom prst="rect">
            <a:avLst/>
          </a:prstGeom>
          <a:noFill/>
          <a:ln/>
        </p:spPr>
        <p:txBody>
          <a:bodyPr wrap="none" lIns="0" tIns="0" rIns="0" bIns="0" rtlCol="0" anchor="t"/>
          <a:lstStyle/>
          <a:p>
            <a:pPr marL="0" indent="0">
              <a:lnSpc>
                <a:spcPts val="2550"/>
              </a:lnSpc>
              <a:buNone/>
            </a:pPr>
            <a:r>
              <a:rPr lang="en-US" sz="2000" b="1" dirty="0">
                <a:solidFill>
                  <a:srgbClr val="F4CAB8"/>
                </a:solidFill>
                <a:latin typeface="Brygada 1918 Bold" pitchFamily="34" charset="0"/>
                <a:ea typeface="Brygada 1918 Bold" pitchFamily="34" charset="-122"/>
                <a:cs typeface="Brygada 1918 Bold" pitchFamily="34" charset="-120"/>
              </a:rPr>
              <a:t>Голод</a:t>
            </a:r>
            <a:endParaRPr lang="en-US" sz="2000" dirty="0"/>
          </a:p>
        </p:txBody>
      </p:sp>
      <p:sp>
        <p:nvSpPr>
          <p:cNvPr id="15" name="Text 12"/>
          <p:cNvSpPr/>
          <p:nvPr/>
        </p:nvSpPr>
        <p:spPr>
          <a:xfrm>
            <a:off x="6801564" y="6761917"/>
            <a:ext cx="7146846" cy="935474"/>
          </a:xfrm>
          <a:prstGeom prst="rect">
            <a:avLst/>
          </a:prstGeom>
          <a:noFill/>
          <a:ln/>
        </p:spPr>
        <p:txBody>
          <a:bodyPr wrap="square" lIns="0" tIns="0" rIns="0" bIns="0" rtlCol="0" anchor="t"/>
          <a:lstStyle/>
          <a:p>
            <a:pPr marL="0" indent="0">
              <a:lnSpc>
                <a:spcPts val="2450"/>
              </a:lnSpc>
              <a:buNone/>
            </a:pPr>
            <a:r>
              <a:rPr lang="en-US" sz="1500" dirty="0">
                <a:solidFill>
                  <a:srgbClr val="F4CAB8"/>
                </a:solidFill>
                <a:latin typeface="Montserrat Medium" pitchFamily="34" charset="0"/>
                <a:ea typeface="Montserrat Medium" pitchFamily="34" charset="-122"/>
                <a:cs typeface="Montserrat Medium" pitchFamily="34" charset="-120"/>
              </a:rPr>
              <a:t>В Афинах зимой 1941-42 годов среднестатистический взрослый получал от 600 до 800 калорий в день, что приводило к голоду, болезням и смертности.</a:t>
            </a:r>
            <a:endParaRPr lang="en-US" sz="1500" dirty="0"/>
          </a:p>
        </p:txBody>
      </p:sp>
      <p:pic>
        <p:nvPicPr>
          <p:cNvPr id="17" name="Рисунок 16">
            <a:extLst>
              <a:ext uri="{FF2B5EF4-FFF2-40B4-BE49-F238E27FC236}">
                <a16:creationId xmlns:a16="http://schemas.microsoft.com/office/drawing/2014/main" id="{DBC07D33-D09D-4587-B5AE-A66397C61F20}"/>
              </a:ext>
            </a:extLst>
          </p:cNvPr>
          <p:cNvPicPr>
            <a:picLocks noChangeAspect="1"/>
          </p:cNvPicPr>
          <p:nvPr/>
        </p:nvPicPr>
        <p:blipFill>
          <a:blip r:embed="rId4"/>
          <a:stretch>
            <a:fillRect/>
          </a:stretch>
        </p:blipFill>
        <p:spPr>
          <a:xfrm>
            <a:off x="12725134" y="7476167"/>
            <a:ext cx="1905266" cy="7144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749260" y="1036201"/>
            <a:ext cx="7116008" cy="713542"/>
          </a:xfrm>
          <a:prstGeom prst="rect">
            <a:avLst/>
          </a:prstGeom>
          <a:noFill/>
          <a:ln/>
        </p:spPr>
        <p:txBody>
          <a:bodyPr wrap="none" lIns="0" tIns="0" rIns="0" bIns="0" rtlCol="0" anchor="t"/>
          <a:lstStyle/>
          <a:p>
            <a:pPr marL="0" indent="0">
              <a:lnSpc>
                <a:spcPts val="5600"/>
              </a:lnSpc>
              <a:buNone/>
            </a:pPr>
            <a:r>
              <a:rPr lang="en-US" sz="4450" b="1" dirty="0">
                <a:solidFill>
                  <a:srgbClr val="FFB393"/>
                </a:solidFill>
                <a:latin typeface="Brygada 1918 Bold" pitchFamily="34" charset="0"/>
                <a:ea typeface="Brygada 1918 Bold" pitchFamily="34" charset="-122"/>
                <a:cs typeface="Brygada 1918 Bold" pitchFamily="34" charset="-120"/>
              </a:rPr>
              <a:t>Ограничения и контроль</a:t>
            </a:r>
            <a:endParaRPr lang="en-US" sz="4450" dirty="0"/>
          </a:p>
        </p:txBody>
      </p:sp>
      <p:sp>
        <p:nvSpPr>
          <p:cNvPr id="4" name="Shape 1"/>
          <p:cNvSpPr/>
          <p:nvPr/>
        </p:nvSpPr>
        <p:spPr>
          <a:xfrm>
            <a:off x="749260" y="2070854"/>
            <a:ext cx="3715703" cy="2967871"/>
          </a:xfrm>
          <a:prstGeom prst="roundRect">
            <a:avLst>
              <a:gd name="adj" fmla="val 1082"/>
            </a:avLst>
          </a:prstGeom>
          <a:solidFill>
            <a:srgbClr val="4D1529"/>
          </a:solidFill>
          <a:ln/>
        </p:spPr>
        <p:txBody>
          <a:bodyPr/>
          <a:lstStyle/>
          <a:p>
            <a:endParaRPr lang="ru-BY"/>
          </a:p>
        </p:txBody>
      </p:sp>
      <p:sp>
        <p:nvSpPr>
          <p:cNvPr id="5" name="Text 2"/>
          <p:cNvSpPr/>
          <p:nvPr/>
        </p:nvSpPr>
        <p:spPr>
          <a:xfrm>
            <a:off x="963335" y="2284928"/>
            <a:ext cx="2854643" cy="356830"/>
          </a:xfrm>
          <a:prstGeom prst="rect">
            <a:avLst/>
          </a:prstGeom>
          <a:noFill/>
          <a:ln/>
        </p:spPr>
        <p:txBody>
          <a:bodyPr wrap="none" lIns="0" tIns="0" rIns="0" bIns="0" rtlCol="0" anchor="t"/>
          <a:lstStyle/>
          <a:p>
            <a:pPr marL="0" indent="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Транспорт</a:t>
            </a:r>
            <a:endParaRPr lang="en-US" sz="2200" dirty="0"/>
          </a:p>
        </p:txBody>
      </p:sp>
      <p:sp>
        <p:nvSpPr>
          <p:cNvPr id="6" name="Text 3"/>
          <p:cNvSpPr/>
          <p:nvPr/>
        </p:nvSpPr>
        <p:spPr>
          <a:xfrm>
            <a:off x="963335" y="2770108"/>
            <a:ext cx="3287554" cy="2054543"/>
          </a:xfrm>
          <a:prstGeom prst="rect">
            <a:avLst/>
          </a:prstGeom>
          <a:noFill/>
          <a:ln/>
        </p:spPr>
        <p:txBody>
          <a:bodyPr wrap="square" lIns="0" tIns="0" rIns="0" bIns="0" rtlCol="0" anchor="t"/>
          <a:lstStyle/>
          <a:p>
            <a:pPr marL="0" indent="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Практически не было личных автомобилей, а поездки на поездах были ограничены. Передвижение между городами требовало разрешения.</a:t>
            </a:r>
            <a:endParaRPr lang="en-US" sz="1650" dirty="0"/>
          </a:p>
        </p:txBody>
      </p:sp>
      <p:sp>
        <p:nvSpPr>
          <p:cNvPr id="7" name="Shape 4"/>
          <p:cNvSpPr/>
          <p:nvPr/>
        </p:nvSpPr>
        <p:spPr>
          <a:xfrm>
            <a:off x="4679037" y="2070854"/>
            <a:ext cx="3715703" cy="2967871"/>
          </a:xfrm>
          <a:prstGeom prst="roundRect">
            <a:avLst>
              <a:gd name="adj" fmla="val 1082"/>
            </a:avLst>
          </a:prstGeom>
          <a:solidFill>
            <a:srgbClr val="4D1529"/>
          </a:solidFill>
          <a:ln/>
        </p:spPr>
        <p:txBody>
          <a:bodyPr/>
          <a:lstStyle/>
          <a:p>
            <a:endParaRPr lang="ru-BY"/>
          </a:p>
        </p:txBody>
      </p:sp>
      <p:sp>
        <p:nvSpPr>
          <p:cNvPr id="8" name="Text 5"/>
          <p:cNvSpPr/>
          <p:nvPr/>
        </p:nvSpPr>
        <p:spPr>
          <a:xfrm>
            <a:off x="4893112" y="2284928"/>
            <a:ext cx="2854643" cy="356830"/>
          </a:xfrm>
          <a:prstGeom prst="rect">
            <a:avLst/>
          </a:prstGeom>
          <a:noFill/>
          <a:ln/>
        </p:spPr>
        <p:txBody>
          <a:bodyPr wrap="none" lIns="0" tIns="0" rIns="0" bIns="0" rtlCol="0" anchor="t"/>
          <a:lstStyle/>
          <a:p>
            <a:pPr marL="0" indent="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Комендантский час</a:t>
            </a:r>
            <a:endParaRPr lang="en-US" sz="2200" dirty="0"/>
          </a:p>
        </p:txBody>
      </p:sp>
      <p:sp>
        <p:nvSpPr>
          <p:cNvPr id="9" name="Text 6"/>
          <p:cNvSpPr/>
          <p:nvPr/>
        </p:nvSpPr>
        <p:spPr>
          <a:xfrm>
            <a:off x="4893112" y="2770108"/>
            <a:ext cx="3287554" cy="1712119"/>
          </a:xfrm>
          <a:prstGeom prst="rect">
            <a:avLst/>
          </a:prstGeom>
          <a:noFill/>
          <a:ln/>
        </p:spPr>
        <p:txBody>
          <a:bodyPr wrap="square" lIns="0" tIns="0" rIns="0" bIns="0" rtlCol="0" anchor="t"/>
          <a:lstStyle/>
          <a:p>
            <a:pPr marL="0" indent="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Действовал комендантский час, запрещавший выход на улицу в ночное время. Нарушение могло повлечь суровое наказание.</a:t>
            </a:r>
            <a:endParaRPr lang="en-US" sz="1650" dirty="0"/>
          </a:p>
        </p:txBody>
      </p:sp>
      <p:sp>
        <p:nvSpPr>
          <p:cNvPr id="10" name="Shape 7"/>
          <p:cNvSpPr/>
          <p:nvPr/>
        </p:nvSpPr>
        <p:spPr>
          <a:xfrm>
            <a:off x="749260" y="5252799"/>
            <a:ext cx="7645479" cy="1940600"/>
          </a:xfrm>
          <a:prstGeom prst="roundRect">
            <a:avLst>
              <a:gd name="adj" fmla="val 1655"/>
            </a:avLst>
          </a:prstGeom>
          <a:solidFill>
            <a:srgbClr val="4D1529"/>
          </a:solidFill>
          <a:ln/>
        </p:spPr>
        <p:txBody>
          <a:bodyPr/>
          <a:lstStyle/>
          <a:p>
            <a:endParaRPr lang="ru-BY"/>
          </a:p>
        </p:txBody>
      </p:sp>
      <p:sp>
        <p:nvSpPr>
          <p:cNvPr id="11" name="Text 8"/>
          <p:cNvSpPr/>
          <p:nvPr/>
        </p:nvSpPr>
        <p:spPr>
          <a:xfrm>
            <a:off x="963335" y="5466874"/>
            <a:ext cx="2854643" cy="356830"/>
          </a:xfrm>
          <a:prstGeom prst="rect">
            <a:avLst/>
          </a:prstGeom>
          <a:noFill/>
          <a:ln/>
        </p:spPr>
        <p:txBody>
          <a:bodyPr wrap="none" lIns="0" tIns="0" rIns="0" bIns="0" rtlCol="0" anchor="t"/>
          <a:lstStyle/>
          <a:p>
            <a:pPr marL="0" indent="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Личные документы</a:t>
            </a:r>
            <a:endParaRPr lang="en-US" sz="2200" dirty="0"/>
          </a:p>
        </p:txBody>
      </p:sp>
      <p:sp>
        <p:nvSpPr>
          <p:cNvPr id="12" name="Text 9"/>
          <p:cNvSpPr/>
          <p:nvPr/>
        </p:nvSpPr>
        <p:spPr>
          <a:xfrm>
            <a:off x="963335" y="5952053"/>
            <a:ext cx="7217331" cy="1027271"/>
          </a:xfrm>
          <a:prstGeom prst="rect">
            <a:avLst/>
          </a:prstGeom>
          <a:noFill/>
          <a:ln/>
        </p:spPr>
        <p:txBody>
          <a:bodyPr wrap="square" lIns="0" tIns="0" rIns="0" bIns="0" rtlCol="0" anchor="t"/>
          <a:lstStyle/>
          <a:p>
            <a:pPr marL="0" indent="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У каждого должно было быть удостоверение личности, которое полиция могла проверить в любое время. Контроль был повсеместным.</a:t>
            </a:r>
            <a:endParaRPr lang="en-US" sz="1650" dirty="0"/>
          </a:p>
        </p:txBody>
      </p:sp>
      <p:pic>
        <p:nvPicPr>
          <p:cNvPr id="2052" name="Picture 4" descr="Изображение пина-истории">
            <a:extLst>
              <a:ext uri="{FF2B5EF4-FFF2-40B4-BE49-F238E27FC236}">
                <a16:creationId xmlns:a16="http://schemas.microsoft.com/office/drawing/2014/main" id="{80C39EA6-408D-E015-1B5E-5E09E8C558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5824" y="1036200"/>
            <a:ext cx="6124575" cy="71933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23186" y="568166"/>
            <a:ext cx="8905994" cy="688777"/>
          </a:xfrm>
          <a:prstGeom prst="rect">
            <a:avLst/>
          </a:prstGeom>
          <a:noFill/>
          <a:ln/>
        </p:spPr>
        <p:txBody>
          <a:bodyPr wrap="none" lIns="0" tIns="0" rIns="0" bIns="0" rtlCol="0" anchor="t"/>
          <a:lstStyle/>
          <a:p>
            <a:pPr marL="0" indent="0">
              <a:lnSpc>
                <a:spcPts val="5400"/>
              </a:lnSpc>
              <a:buNone/>
            </a:pPr>
            <a:r>
              <a:rPr lang="en-US" sz="4300" b="1" dirty="0">
                <a:solidFill>
                  <a:srgbClr val="FFB393"/>
                </a:solidFill>
                <a:latin typeface="Brygada 1918 Bold" pitchFamily="34" charset="0"/>
                <a:ea typeface="Brygada 1918 Bold" pitchFamily="34" charset="-122"/>
                <a:cs typeface="Brygada 1918 Bold" pitchFamily="34" charset="-120"/>
              </a:rPr>
              <a:t>Культурная жизнь и пропаганда</a:t>
            </a:r>
            <a:endParaRPr lang="en-US" sz="4300" dirty="0"/>
          </a:p>
        </p:txBody>
      </p:sp>
      <p:sp>
        <p:nvSpPr>
          <p:cNvPr id="3" name="Text 1"/>
          <p:cNvSpPr/>
          <p:nvPr/>
        </p:nvSpPr>
        <p:spPr>
          <a:xfrm>
            <a:off x="2023348" y="2533888"/>
            <a:ext cx="2755106" cy="344329"/>
          </a:xfrm>
          <a:prstGeom prst="rect">
            <a:avLst/>
          </a:prstGeom>
          <a:noFill/>
          <a:ln/>
        </p:spPr>
        <p:txBody>
          <a:bodyPr wrap="none" lIns="0" tIns="0" rIns="0" bIns="0" rtlCol="0" anchor="t"/>
          <a:lstStyle/>
          <a:p>
            <a:pPr marL="0" indent="0" algn="r">
              <a:lnSpc>
                <a:spcPts val="2700"/>
              </a:lnSpc>
              <a:buNone/>
            </a:pPr>
            <a:r>
              <a:rPr lang="en-US" sz="2150" b="1" dirty="0">
                <a:solidFill>
                  <a:srgbClr val="F4CAB8"/>
                </a:solidFill>
                <a:latin typeface="Brygada 1918 Bold" pitchFamily="34" charset="0"/>
                <a:ea typeface="Brygada 1918 Bold" pitchFamily="34" charset="-122"/>
                <a:cs typeface="Brygada 1918 Bold" pitchFamily="34" charset="-120"/>
              </a:rPr>
              <a:t>Развлечения</a:t>
            </a:r>
            <a:endParaRPr lang="en-US" sz="2150" dirty="0"/>
          </a:p>
        </p:txBody>
      </p:sp>
      <p:pic>
        <p:nvPicPr>
          <p:cNvPr id="4" name="Image 0" descr="preencoded.png"/>
          <p:cNvPicPr>
            <a:picLocks noChangeAspect="1"/>
          </p:cNvPicPr>
          <p:nvPr/>
        </p:nvPicPr>
        <p:blipFill>
          <a:blip r:embed="rId3"/>
          <a:stretch>
            <a:fillRect/>
          </a:stretch>
        </p:blipFill>
        <p:spPr>
          <a:xfrm>
            <a:off x="5088374" y="1670209"/>
            <a:ext cx="4453533" cy="4453533"/>
          </a:xfrm>
          <a:prstGeom prst="rect">
            <a:avLst/>
          </a:prstGeom>
        </p:spPr>
      </p:pic>
      <p:sp>
        <p:nvSpPr>
          <p:cNvPr id="5" name="Text 2"/>
          <p:cNvSpPr/>
          <p:nvPr/>
        </p:nvSpPr>
        <p:spPr>
          <a:xfrm>
            <a:off x="6354247" y="2415064"/>
            <a:ext cx="129064" cy="413147"/>
          </a:xfrm>
          <a:prstGeom prst="rect">
            <a:avLst/>
          </a:prstGeom>
          <a:noFill/>
          <a:ln/>
        </p:spPr>
        <p:txBody>
          <a:bodyPr wrap="none" lIns="0" tIns="0" rIns="0" bIns="0" rtlCol="0" anchor="t"/>
          <a:lstStyle/>
          <a:p>
            <a:pPr marL="0" indent="0">
              <a:lnSpc>
                <a:spcPts val="3250"/>
              </a:lnSpc>
              <a:buNone/>
            </a:pPr>
            <a:r>
              <a:rPr lang="en-US" sz="2000" b="1" dirty="0">
                <a:solidFill>
                  <a:srgbClr val="F4CAB8"/>
                </a:solidFill>
                <a:latin typeface="Brygada 1918 Bold" pitchFamily="34" charset="0"/>
                <a:ea typeface="Brygada 1918 Bold" pitchFamily="34" charset="-122"/>
                <a:cs typeface="Brygada 1918 Bold" pitchFamily="34" charset="-120"/>
              </a:rPr>
              <a:t>1</a:t>
            </a:r>
            <a:endParaRPr lang="en-US" sz="2000" dirty="0"/>
          </a:p>
        </p:txBody>
      </p:sp>
      <p:sp>
        <p:nvSpPr>
          <p:cNvPr id="6" name="Text 3"/>
          <p:cNvSpPr/>
          <p:nvPr/>
        </p:nvSpPr>
        <p:spPr>
          <a:xfrm>
            <a:off x="9851827" y="2533888"/>
            <a:ext cx="2755106" cy="344329"/>
          </a:xfrm>
          <a:prstGeom prst="rect">
            <a:avLst/>
          </a:prstGeom>
          <a:noFill/>
          <a:ln/>
        </p:spPr>
        <p:txBody>
          <a:bodyPr wrap="none" lIns="0" tIns="0" rIns="0" bIns="0" rtlCol="0" anchor="t"/>
          <a:lstStyle/>
          <a:p>
            <a:pPr marL="0" indent="0" algn="l">
              <a:lnSpc>
                <a:spcPts val="2700"/>
              </a:lnSpc>
              <a:buNone/>
            </a:pPr>
            <a:r>
              <a:rPr lang="en-US" sz="2150" b="1" dirty="0">
                <a:solidFill>
                  <a:srgbClr val="F4CAB8"/>
                </a:solidFill>
                <a:latin typeface="Brygada 1918 Bold" pitchFamily="34" charset="0"/>
                <a:ea typeface="Brygada 1918 Bold" pitchFamily="34" charset="-122"/>
                <a:cs typeface="Brygada 1918 Bold" pitchFamily="34" charset="-120"/>
              </a:rPr>
              <a:t>Фильмы</a:t>
            </a:r>
            <a:endParaRPr lang="en-US" sz="2150" dirty="0"/>
          </a:p>
        </p:txBody>
      </p:sp>
      <p:pic>
        <p:nvPicPr>
          <p:cNvPr id="7" name="Image 1" descr="preencoded.png"/>
          <p:cNvPicPr>
            <a:picLocks noChangeAspect="1"/>
          </p:cNvPicPr>
          <p:nvPr/>
        </p:nvPicPr>
        <p:blipFill>
          <a:blip r:embed="rId4"/>
          <a:stretch>
            <a:fillRect/>
          </a:stretch>
        </p:blipFill>
        <p:spPr>
          <a:xfrm>
            <a:off x="5088374" y="1670209"/>
            <a:ext cx="4453533" cy="4453533"/>
          </a:xfrm>
          <a:prstGeom prst="rect">
            <a:avLst/>
          </a:prstGeom>
        </p:spPr>
      </p:pic>
      <p:sp>
        <p:nvSpPr>
          <p:cNvPr id="8" name="Text 4"/>
          <p:cNvSpPr/>
          <p:nvPr/>
        </p:nvSpPr>
        <p:spPr>
          <a:xfrm>
            <a:off x="8516779" y="2794040"/>
            <a:ext cx="147161" cy="413147"/>
          </a:xfrm>
          <a:prstGeom prst="rect">
            <a:avLst/>
          </a:prstGeom>
          <a:noFill/>
          <a:ln/>
        </p:spPr>
        <p:txBody>
          <a:bodyPr wrap="none" lIns="0" tIns="0" rIns="0" bIns="0" rtlCol="0" anchor="t"/>
          <a:lstStyle/>
          <a:p>
            <a:pPr marL="0" indent="0">
              <a:lnSpc>
                <a:spcPts val="3250"/>
              </a:lnSpc>
              <a:buNone/>
            </a:pPr>
            <a:r>
              <a:rPr lang="en-US" sz="2000" b="1" dirty="0">
                <a:solidFill>
                  <a:srgbClr val="F4CAB8"/>
                </a:solidFill>
                <a:latin typeface="Brygada 1918 Bold" pitchFamily="34" charset="0"/>
                <a:ea typeface="Brygada 1918 Bold" pitchFamily="34" charset="-122"/>
                <a:cs typeface="Brygada 1918 Bold" pitchFamily="34" charset="-120"/>
              </a:rPr>
              <a:t>2</a:t>
            </a:r>
            <a:endParaRPr lang="en-US" sz="2000" dirty="0"/>
          </a:p>
        </p:txBody>
      </p:sp>
      <p:sp>
        <p:nvSpPr>
          <p:cNvPr id="9" name="Text 5"/>
          <p:cNvSpPr/>
          <p:nvPr/>
        </p:nvSpPr>
        <p:spPr>
          <a:xfrm>
            <a:off x="9851827" y="4915614"/>
            <a:ext cx="2755106" cy="344329"/>
          </a:xfrm>
          <a:prstGeom prst="rect">
            <a:avLst/>
          </a:prstGeom>
          <a:noFill/>
          <a:ln/>
        </p:spPr>
        <p:txBody>
          <a:bodyPr wrap="none" lIns="0" tIns="0" rIns="0" bIns="0" rtlCol="0" anchor="t"/>
          <a:lstStyle/>
          <a:p>
            <a:pPr marL="0" indent="0" algn="l">
              <a:lnSpc>
                <a:spcPts val="2700"/>
              </a:lnSpc>
              <a:buNone/>
            </a:pPr>
            <a:r>
              <a:rPr lang="en-US" sz="2150" b="1" dirty="0">
                <a:solidFill>
                  <a:srgbClr val="F4CAB8"/>
                </a:solidFill>
                <a:latin typeface="Brygada 1918 Bold" pitchFamily="34" charset="0"/>
                <a:ea typeface="Brygada 1918 Bold" pitchFamily="34" charset="-122"/>
                <a:cs typeface="Brygada 1918 Bold" pitchFamily="34" charset="-120"/>
              </a:rPr>
              <a:t>Газеты</a:t>
            </a:r>
            <a:endParaRPr lang="en-US" sz="2150" dirty="0"/>
          </a:p>
        </p:txBody>
      </p:sp>
      <p:pic>
        <p:nvPicPr>
          <p:cNvPr id="10" name="Image 2" descr="preencoded.png"/>
          <p:cNvPicPr>
            <a:picLocks noChangeAspect="1"/>
          </p:cNvPicPr>
          <p:nvPr/>
        </p:nvPicPr>
        <p:blipFill>
          <a:blip r:embed="rId5"/>
          <a:stretch>
            <a:fillRect/>
          </a:stretch>
        </p:blipFill>
        <p:spPr>
          <a:xfrm>
            <a:off x="5088374" y="1670209"/>
            <a:ext cx="4453533" cy="4453533"/>
          </a:xfrm>
          <a:prstGeom prst="rect">
            <a:avLst/>
          </a:prstGeom>
        </p:spPr>
      </p:pic>
      <p:sp>
        <p:nvSpPr>
          <p:cNvPr id="11" name="Text 6"/>
          <p:cNvSpPr/>
          <p:nvPr/>
        </p:nvSpPr>
        <p:spPr>
          <a:xfrm>
            <a:off x="8132564" y="4965621"/>
            <a:ext cx="157520" cy="413147"/>
          </a:xfrm>
          <a:prstGeom prst="rect">
            <a:avLst/>
          </a:prstGeom>
          <a:noFill/>
          <a:ln/>
        </p:spPr>
        <p:txBody>
          <a:bodyPr wrap="none" lIns="0" tIns="0" rIns="0" bIns="0" rtlCol="0" anchor="t"/>
          <a:lstStyle/>
          <a:p>
            <a:pPr marL="0" indent="0">
              <a:lnSpc>
                <a:spcPts val="3250"/>
              </a:lnSpc>
              <a:buNone/>
            </a:pPr>
            <a:r>
              <a:rPr lang="en-US" sz="2000" b="1" dirty="0">
                <a:solidFill>
                  <a:srgbClr val="F4CAB8"/>
                </a:solidFill>
                <a:latin typeface="Brygada 1918 Bold" pitchFamily="34" charset="0"/>
                <a:ea typeface="Brygada 1918 Bold" pitchFamily="34" charset="-122"/>
                <a:cs typeface="Brygada 1918 Bold" pitchFamily="34" charset="-120"/>
              </a:rPr>
              <a:t>3</a:t>
            </a:r>
            <a:endParaRPr lang="en-US" sz="2000" dirty="0"/>
          </a:p>
        </p:txBody>
      </p:sp>
      <p:sp>
        <p:nvSpPr>
          <p:cNvPr id="12" name="Text 7"/>
          <p:cNvSpPr/>
          <p:nvPr/>
        </p:nvSpPr>
        <p:spPr>
          <a:xfrm>
            <a:off x="2023348" y="4915614"/>
            <a:ext cx="2755106" cy="344329"/>
          </a:xfrm>
          <a:prstGeom prst="rect">
            <a:avLst/>
          </a:prstGeom>
          <a:noFill/>
          <a:ln/>
        </p:spPr>
        <p:txBody>
          <a:bodyPr wrap="none" lIns="0" tIns="0" rIns="0" bIns="0" rtlCol="0" anchor="t"/>
          <a:lstStyle/>
          <a:p>
            <a:pPr marL="0" indent="0" algn="r">
              <a:lnSpc>
                <a:spcPts val="2700"/>
              </a:lnSpc>
              <a:buNone/>
            </a:pPr>
            <a:r>
              <a:rPr lang="en-US" sz="2150" b="1" dirty="0">
                <a:solidFill>
                  <a:srgbClr val="F4CAB8"/>
                </a:solidFill>
                <a:latin typeface="Brygada 1918 Bold" pitchFamily="34" charset="0"/>
                <a:ea typeface="Brygada 1918 Bold" pitchFamily="34" charset="-122"/>
                <a:cs typeface="Brygada 1918 Bold" pitchFamily="34" charset="-120"/>
              </a:rPr>
              <a:t>Радио</a:t>
            </a:r>
            <a:endParaRPr lang="en-US" sz="2150" dirty="0"/>
          </a:p>
        </p:txBody>
      </p:sp>
      <p:pic>
        <p:nvPicPr>
          <p:cNvPr id="13" name="Image 3" descr="preencoded.png"/>
          <p:cNvPicPr>
            <a:picLocks noChangeAspect="1"/>
          </p:cNvPicPr>
          <p:nvPr/>
        </p:nvPicPr>
        <p:blipFill>
          <a:blip r:embed="rId6"/>
          <a:stretch>
            <a:fillRect/>
          </a:stretch>
        </p:blipFill>
        <p:spPr>
          <a:xfrm>
            <a:off x="5088374" y="1670209"/>
            <a:ext cx="4453533" cy="4453533"/>
          </a:xfrm>
          <a:prstGeom prst="rect">
            <a:avLst/>
          </a:prstGeom>
        </p:spPr>
      </p:pic>
      <p:sp>
        <p:nvSpPr>
          <p:cNvPr id="14" name="Text 8"/>
          <p:cNvSpPr/>
          <p:nvPr/>
        </p:nvSpPr>
        <p:spPr>
          <a:xfrm>
            <a:off x="5958483" y="4586645"/>
            <a:ext cx="162639" cy="413147"/>
          </a:xfrm>
          <a:prstGeom prst="rect">
            <a:avLst/>
          </a:prstGeom>
          <a:noFill/>
          <a:ln/>
        </p:spPr>
        <p:txBody>
          <a:bodyPr wrap="none" lIns="0" tIns="0" rIns="0" bIns="0" rtlCol="0" anchor="t"/>
          <a:lstStyle/>
          <a:p>
            <a:pPr marL="0" indent="0">
              <a:lnSpc>
                <a:spcPts val="3250"/>
              </a:lnSpc>
              <a:buNone/>
            </a:pPr>
            <a:r>
              <a:rPr lang="en-US" sz="2000" b="1" dirty="0">
                <a:solidFill>
                  <a:srgbClr val="F4CAB8"/>
                </a:solidFill>
                <a:latin typeface="Brygada 1918 Bold" pitchFamily="34" charset="0"/>
                <a:ea typeface="Brygada 1918 Bold" pitchFamily="34" charset="-122"/>
                <a:cs typeface="Brygada 1918 Bold" pitchFamily="34" charset="-120"/>
              </a:rPr>
              <a:t>4</a:t>
            </a:r>
            <a:endParaRPr lang="en-US" sz="2000" dirty="0"/>
          </a:p>
        </p:txBody>
      </p:sp>
      <p:sp>
        <p:nvSpPr>
          <p:cNvPr id="15" name="Text 9"/>
          <p:cNvSpPr/>
          <p:nvPr/>
        </p:nvSpPr>
        <p:spPr>
          <a:xfrm>
            <a:off x="723186" y="6356152"/>
            <a:ext cx="13184029" cy="1322546"/>
          </a:xfrm>
          <a:prstGeom prst="rect">
            <a:avLst/>
          </a:prstGeom>
          <a:noFill/>
          <a:ln/>
        </p:spPr>
        <p:txBody>
          <a:bodyPr wrap="square" lIns="0" tIns="0" rIns="0" bIns="0" rtlCol="0" anchor="t"/>
          <a:lstStyle/>
          <a:p>
            <a:pPr marL="0" indent="0">
              <a:lnSpc>
                <a:spcPts val="2600"/>
              </a:lnSpc>
              <a:buNone/>
            </a:pPr>
            <a:r>
              <a:rPr lang="en-US" sz="1600" dirty="0">
                <a:solidFill>
                  <a:srgbClr val="F4CAB8"/>
                </a:solidFill>
                <a:latin typeface="Montserrat Medium" pitchFamily="34" charset="0"/>
                <a:ea typeface="Montserrat Medium" pitchFamily="34" charset="-122"/>
                <a:cs typeface="Montserrat Medium" pitchFamily="34" charset="-120"/>
              </a:rPr>
              <a:t>Посещаемость спортивных мероприятий и фильмов возросла, поскольку люди искали развлечений, чтобы отвлечься от войны. Большинство фильмов были либо эскапистскими, либо прогерманскими. Критика немцев или коллаборационистов могла повлечь тюрьму. Довоенные газеты закрывались или печатали только то, что разрешали немцы. Официальное радио контролировалось, но люди слушали BBC.</a:t>
            </a:r>
            <a:endParaRPr lang="en-US" sz="1600" dirty="0"/>
          </a:p>
        </p:txBody>
      </p:sp>
      <p:pic>
        <p:nvPicPr>
          <p:cNvPr id="17" name="Рисунок 16">
            <a:extLst>
              <a:ext uri="{FF2B5EF4-FFF2-40B4-BE49-F238E27FC236}">
                <a16:creationId xmlns:a16="http://schemas.microsoft.com/office/drawing/2014/main" id="{ECB4870B-1613-4213-B832-E7504044F28C}"/>
              </a:ext>
            </a:extLst>
          </p:cNvPr>
          <p:cNvPicPr>
            <a:picLocks noChangeAspect="1"/>
          </p:cNvPicPr>
          <p:nvPr/>
        </p:nvPicPr>
        <p:blipFill>
          <a:blip r:embed="rId7"/>
          <a:stretch>
            <a:fillRect/>
          </a:stretch>
        </p:blipFill>
        <p:spPr>
          <a:xfrm>
            <a:off x="12725134" y="7515125"/>
            <a:ext cx="1905266" cy="7144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95193"/>
          </a:xfrm>
          <a:prstGeom prst="rect">
            <a:avLst/>
          </a:prstGeom>
        </p:spPr>
      </p:pic>
      <p:sp>
        <p:nvSpPr>
          <p:cNvPr id="3" name="Text 0"/>
          <p:cNvSpPr/>
          <p:nvPr/>
        </p:nvSpPr>
        <p:spPr>
          <a:xfrm>
            <a:off x="698540" y="3046928"/>
            <a:ext cx="5938480" cy="665321"/>
          </a:xfrm>
          <a:prstGeom prst="rect">
            <a:avLst/>
          </a:prstGeom>
          <a:noFill/>
          <a:ln/>
        </p:spPr>
        <p:txBody>
          <a:bodyPr wrap="none" lIns="0" tIns="0" rIns="0" bIns="0" rtlCol="0" anchor="t"/>
          <a:lstStyle/>
          <a:p>
            <a:pPr marL="0" indent="0">
              <a:lnSpc>
                <a:spcPts val="5200"/>
              </a:lnSpc>
              <a:buNone/>
            </a:pPr>
            <a:r>
              <a:rPr lang="en-US" sz="4150" b="1" dirty="0">
                <a:solidFill>
                  <a:srgbClr val="FFB393"/>
                </a:solidFill>
                <a:latin typeface="Brygada 1918 Bold" pitchFamily="34" charset="0"/>
                <a:ea typeface="Brygada 1918 Bold" pitchFamily="34" charset="-122"/>
                <a:cs typeface="Brygada 1918 Bold" pitchFamily="34" charset="-120"/>
              </a:rPr>
              <a:t>Принудительный труд</a:t>
            </a:r>
            <a:endParaRPr lang="en-US" sz="4150" dirty="0"/>
          </a:p>
        </p:txBody>
      </p:sp>
      <p:pic>
        <p:nvPicPr>
          <p:cNvPr id="4" name="Image 1" descr="preencoded.png"/>
          <p:cNvPicPr>
            <a:picLocks noChangeAspect="1"/>
          </p:cNvPicPr>
          <p:nvPr/>
        </p:nvPicPr>
        <p:blipFill>
          <a:blip r:embed="rId4"/>
          <a:stretch>
            <a:fillRect/>
          </a:stretch>
        </p:blipFill>
        <p:spPr>
          <a:xfrm>
            <a:off x="698540" y="4011573"/>
            <a:ext cx="4411028" cy="798433"/>
          </a:xfrm>
          <a:prstGeom prst="rect">
            <a:avLst/>
          </a:prstGeom>
        </p:spPr>
      </p:pic>
      <p:sp>
        <p:nvSpPr>
          <p:cNvPr id="5" name="Text 1"/>
          <p:cNvSpPr/>
          <p:nvPr/>
        </p:nvSpPr>
        <p:spPr>
          <a:xfrm>
            <a:off x="898088" y="5109329"/>
            <a:ext cx="2661523" cy="332542"/>
          </a:xfrm>
          <a:prstGeom prst="rect">
            <a:avLst/>
          </a:prstGeom>
          <a:noFill/>
          <a:ln/>
        </p:spPr>
        <p:txBody>
          <a:bodyPr wrap="none" lIns="0" tIns="0" rIns="0" bIns="0" rtlCol="0" anchor="t"/>
          <a:lstStyle/>
          <a:p>
            <a:pPr marL="0" indent="0" algn="l">
              <a:lnSpc>
                <a:spcPts val="2600"/>
              </a:lnSpc>
              <a:buNone/>
            </a:pPr>
            <a:r>
              <a:rPr lang="en-US" sz="2050" b="1" dirty="0">
                <a:solidFill>
                  <a:srgbClr val="F4CAB8"/>
                </a:solidFill>
                <a:latin typeface="Brygada 1918 Bold" pitchFamily="34" charset="0"/>
                <a:ea typeface="Brygada 1918 Bold" pitchFamily="34" charset="-122"/>
                <a:cs typeface="Brygada 1918 Bold" pitchFamily="34" charset="-120"/>
              </a:rPr>
              <a:t>Нехватка рабочих</a:t>
            </a:r>
            <a:endParaRPr lang="en-US" sz="2050" dirty="0"/>
          </a:p>
        </p:txBody>
      </p:sp>
      <p:sp>
        <p:nvSpPr>
          <p:cNvPr id="6" name="Text 2"/>
          <p:cNvSpPr/>
          <p:nvPr/>
        </p:nvSpPr>
        <p:spPr>
          <a:xfrm>
            <a:off x="898088" y="5561528"/>
            <a:ext cx="4011930" cy="1916668"/>
          </a:xfrm>
          <a:prstGeom prst="rect">
            <a:avLst/>
          </a:prstGeom>
          <a:noFill/>
          <a:ln/>
        </p:spPr>
        <p:txBody>
          <a:bodyPr wrap="square" lIns="0" tIns="0" rIns="0" bIns="0" rtlCol="0" anchor="t"/>
          <a:lstStyle/>
          <a:p>
            <a:pPr marL="0" indent="0" algn="l">
              <a:lnSpc>
                <a:spcPts val="2500"/>
              </a:lnSpc>
              <a:buNone/>
            </a:pPr>
            <a:r>
              <a:rPr lang="en-US" sz="1550" dirty="0">
                <a:solidFill>
                  <a:srgbClr val="F4CAB8"/>
                </a:solidFill>
                <a:latin typeface="Montserrat Medium" pitchFamily="34" charset="0"/>
                <a:ea typeface="Montserrat Medium" pitchFamily="34" charset="-122"/>
                <a:cs typeface="Montserrat Medium" pitchFamily="34" charset="-120"/>
              </a:rPr>
              <a:t>Немецкая политика затрудняла поиск работы на оккупированных территориях, так как Германия испытывала нехватку рабочей силы и хотела, чтобы там работали иностранцы.</a:t>
            </a:r>
            <a:endParaRPr lang="en-US" sz="1550" dirty="0"/>
          </a:p>
        </p:txBody>
      </p:sp>
      <p:pic>
        <p:nvPicPr>
          <p:cNvPr id="7" name="Image 2" descr="preencoded.png"/>
          <p:cNvPicPr>
            <a:picLocks noChangeAspect="1"/>
          </p:cNvPicPr>
          <p:nvPr/>
        </p:nvPicPr>
        <p:blipFill>
          <a:blip r:embed="rId5"/>
          <a:stretch>
            <a:fillRect/>
          </a:stretch>
        </p:blipFill>
        <p:spPr>
          <a:xfrm>
            <a:off x="5109567" y="4011573"/>
            <a:ext cx="4411147" cy="798433"/>
          </a:xfrm>
          <a:prstGeom prst="rect">
            <a:avLst/>
          </a:prstGeom>
        </p:spPr>
      </p:pic>
      <p:sp>
        <p:nvSpPr>
          <p:cNvPr id="8" name="Text 3"/>
          <p:cNvSpPr/>
          <p:nvPr/>
        </p:nvSpPr>
        <p:spPr>
          <a:xfrm>
            <a:off x="5309116" y="5109329"/>
            <a:ext cx="2661523" cy="332542"/>
          </a:xfrm>
          <a:prstGeom prst="rect">
            <a:avLst/>
          </a:prstGeom>
          <a:noFill/>
          <a:ln/>
        </p:spPr>
        <p:txBody>
          <a:bodyPr wrap="none" lIns="0" tIns="0" rIns="0" bIns="0" rtlCol="0" anchor="t"/>
          <a:lstStyle/>
          <a:p>
            <a:pPr marL="0" indent="0" algn="l">
              <a:lnSpc>
                <a:spcPts val="2600"/>
              </a:lnSpc>
              <a:buNone/>
            </a:pPr>
            <a:r>
              <a:rPr lang="en-US" sz="2050" b="1" dirty="0">
                <a:solidFill>
                  <a:srgbClr val="F4CAB8"/>
                </a:solidFill>
                <a:latin typeface="Brygada 1918 Bold" pitchFamily="34" charset="0"/>
                <a:ea typeface="Brygada 1918 Bold" pitchFamily="34" charset="-122"/>
                <a:cs typeface="Brygada 1918 Bold" pitchFamily="34" charset="-120"/>
              </a:rPr>
              <a:t>Добровольцы</a:t>
            </a:r>
            <a:endParaRPr lang="en-US" sz="2050" dirty="0"/>
          </a:p>
        </p:txBody>
      </p:sp>
      <p:sp>
        <p:nvSpPr>
          <p:cNvPr id="9" name="Text 4"/>
          <p:cNvSpPr/>
          <p:nvPr/>
        </p:nvSpPr>
        <p:spPr>
          <a:xfrm>
            <a:off x="5309116" y="5561528"/>
            <a:ext cx="4012049" cy="1916668"/>
          </a:xfrm>
          <a:prstGeom prst="rect">
            <a:avLst/>
          </a:prstGeom>
          <a:noFill/>
          <a:ln/>
        </p:spPr>
        <p:txBody>
          <a:bodyPr wrap="square" lIns="0" tIns="0" rIns="0" bIns="0" rtlCol="0" anchor="t"/>
          <a:lstStyle/>
          <a:p>
            <a:pPr marL="0" indent="0" algn="l">
              <a:lnSpc>
                <a:spcPts val="2500"/>
              </a:lnSpc>
              <a:buNone/>
            </a:pPr>
            <a:r>
              <a:rPr lang="en-US" sz="1550" dirty="0">
                <a:solidFill>
                  <a:srgbClr val="F4CAB8"/>
                </a:solidFill>
                <a:latin typeface="Montserrat Medium" pitchFamily="34" charset="0"/>
                <a:ea typeface="Montserrat Medium" pitchFamily="34" charset="-122"/>
                <a:cs typeface="Montserrat Medium" pitchFamily="34" charset="-120"/>
              </a:rPr>
              <a:t>Безработные, отказывавшиеся работать в Германии, лишались пособий и продовольственных карточек. Во Франции немцы обещали освободить военнопленных в обмен на добровольцев.</a:t>
            </a:r>
            <a:endParaRPr lang="en-US" sz="1550" dirty="0"/>
          </a:p>
        </p:txBody>
      </p:sp>
      <p:pic>
        <p:nvPicPr>
          <p:cNvPr id="10" name="Image 3" descr="preencoded.png"/>
          <p:cNvPicPr>
            <a:picLocks noChangeAspect="1"/>
          </p:cNvPicPr>
          <p:nvPr/>
        </p:nvPicPr>
        <p:blipFill>
          <a:blip r:embed="rId6"/>
          <a:stretch>
            <a:fillRect/>
          </a:stretch>
        </p:blipFill>
        <p:spPr>
          <a:xfrm>
            <a:off x="9520714" y="4011573"/>
            <a:ext cx="4411147" cy="798433"/>
          </a:xfrm>
          <a:prstGeom prst="rect">
            <a:avLst/>
          </a:prstGeom>
        </p:spPr>
      </p:pic>
      <p:sp>
        <p:nvSpPr>
          <p:cNvPr id="11" name="Text 5"/>
          <p:cNvSpPr/>
          <p:nvPr/>
        </p:nvSpPr>
        <p:spPr>
          <a:xfrm>
            <a:off x="9720262" y="5109329"/>
            <a:ext cx="2661523" cy="332542"/>
          </a:xfrm>
          <a:prstGeom prst="rect">
            <a:avLst/>
          </a:prstGeom>
          <a:noFill/>
          <a:ln/>
        </p:spPr>
        <p:txBody>
          <a:bodyPr wrap="none" lIns="0" tIns="0" rIns="0" bIns="0" rtlCol="0" anchor="t"/>
          <a:lstStyle/>
          <a:p>
            <a:pPr marL="0" indent="0" algn="l">
              <a:lnSpc>
                <a:spcPts val="2600"/>
              </a:lnSpc>
              <a:buNone/>
            </a:pPr>
            <a:r>
              <a:rPr lang="en-US" sz="2050" b="1" dirty="0">
                <a:solidFill>
                  <a:srgbClr val="F4CAB8"/>
                </a:solidFill>
                <a:latin typeface="Brygada 1918 Bold" pitchFamily="34" charset="0"/>
                <a:ea typeface="Brygada 1918 Bold" pitchFamily="34" charset="-122"/>
                <a:cs typeface="Brygada 1918 Bold" pitchFamily="34" charset="-120"/>
              </a:rPr>
              <a:t>STO</a:t>
            </a:r>
            <a:endParaRPr lang="en-US" sz="2050" dirty="0"/>
          </a:p>
        </p:txBody>
      </p:sp>
      <p:sp>
        <p:nvSpPr>
          <p:cNvPr id="12" name="Text 6"/>
          <p:cNvSpPr/>
          <p:nvPr/>
        </p:nvSpPr>
        <p:spPr>
          <a:xfrm>
            <a:off x="9720262" y="5561528"/>
            <a:ext cx="4012049" cy="1597223"/>
          </a:xfrm>
          <a:prstGeom prst="rect">
            <a:avLst/>
          </a:prstGeom>
          <a:noFill/>
          <a:ln/>
        </p:spPr>
        <p:txBody>
          <a:bodyPr wrap="square" lIns="0" tIns="0" rIns="0" bIns="0" rtlCol="0" anchor="t"/>
          <a:lstStyle/>
          <a:p>
            <a:pPr marL="0" indent="0" algn="l">
              <a:lnSpc>
                <a:spcPts val="2500"/>
              </a:lnSpc>
              <a:buNone/>
            </a:pPr>
            <a:r>
              <a:rPr lang="en-US" sz="1550" dirty="0">
                <a:solidFill>
                  <a:srgbClr val="F4CAB8"/>
                </a:solidFill>
                <a:latin typeface="Montserrat Medium" pitchFamily="34" charset="0"/>
                <a:ea typeface="Montserrat Medium" pitchFamily="34" charset="-122"/>
                <a:cs typeface="Montserrat Medium" pitchFamily="34" charset="-120"/>
              </a:rPr>
              <a:t>В 1942 году была введена Service de Travaille Obligatoire (STO) – обязательная трудовая служба, по которой французских рабочих отправляли в Германию.</a:t>
            </a:r>
            <a:endParaRPr lang="en-US" sz="1550" dirty="0"/>
          </a:p>
        </p:txBody>
      </p:sp>
      <p:pic>
        <p:nvPicPr>
          <p:cNvPr id="14" name="Рисунок 13">
            <a:extLst>
              <a:ext uri="{FF2B5EF4-FFF2-40B4-BE49-F238E27FC236}">
                <a16:creationId xmlns:a16="http://schemas.microsoft.com/office/drawing/2014/main" id="{C4B4209E-6A02-4079-8D30-6C64DD242F64}"/>
              </a:ext>
            </a:extLst>
          </p:cNvPr>
          <p:cNvPicPr>
            <a:picLocks noChangeAspect="1"/>
          </p:cNvPicPr>
          <p:nvPr/>
        </p:nvPicPr>
        <p:blipFill>
          <a:blip r:embed="rId7"/>
          <a:stretch>
            <a:fillRect/>
          </a:stretch>
        </p:blipFill>
        <p:spPr>
          <a:xfrm>
            <a:off x="12725134" y="7486326"/>
            <a:ext cx="1905266" cy="7144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8183" y="707946"/>
            <a:ext cx="5320189" cy="664964"/>
          </a:xfrm>
          <a:prstGeom prst="rect">
            <a:avLst/>
          </a:prstGeom>
          <a:noFill/>
          <a:ln/>
        </p:spPr>
        <p:txBody>
          <a:bodyPr wrap="none" lIns="0" tIns="0" rIns="0" bIns="0" rtlCol="0" anchor="t"/>
          <a:lstStyle/>
          <a:p>
            <a:pPr marL="0" indent="0">
              <a:lnSpc>
                <a:spcPts val="5200"/>
              </a:lnSpc>
              <a:buNone/>
            </a:pPr>
            <a:r>
              <a:rPr lang="en-US" sz="4150" b="1" dirty="0">
                <a:solidFill>
                  <a:srgbClr val="FFB393"/>
                </a:solidFill>
                <a:latin typeface="Brygada 1918 Bold" pitchFamily="34" charset="0"/>
                <a:ea typeface="Brygada 1918 Bold" pitchFamily="34" charset="-122"/>
                <a:cs typeface="Brygada 1918 Bold" pitchFamily="34" charset="-120"/>
              </a:rPr>
              <a:t>Репрессии и террор</a:t>
            </a:r>
            <a:endParaRPr lang="en-US" sz="4150" dirty="0"/>
          </a:p>
        </p:txBody>
      </p:sp>
      <p:pic>
        <p:nvPicPr>
          <p:cNvPr id="3" name="Image 0" descr="preencoded.png"/>
          <p:cNvPicPr>
            <a:picLocks noChangeAspect="1"/>
          </p:cNvPicPr>
          <p:nvPr/>
        </p:nvPicPr>
        <p:blipFill>
          <a:blip r:embed="rId3"/>
          <a:stretch>
            <a:fillRect/>
          </a:stretch>
        </p:blipFill>
        <p:spPr>
          <a:xfrm>
            <a:off x="2914769" y="1771888"/>
            <a:ext cx="2183606" cy="1489353"/>
          </a:xfrm>
          <a:prstGeom prst="rect">
            <a:avLst/>
          </a:prstGeom>
        </p:spPr>
      </p:pic>
      <p:sp>
        <p:nvSpPr>
          <p:cNvPr id="4" name="Text 1"/>
          <p:cNvSpPr/>
          <p:nvPr/>
        </p:nvSpPr>
        <p:spPr>
          <a:xfrm>
            <a:off x="3944183" y="2510433"/>
            <a:ext cx="124658" cy="399098"/>
          </a:xfrm>
          <a:prstGeom prst="rect">
            <a:avLst/>
          </a:prstGeom>
          <a:noFill/>
          <a:ln/>
        </p:spPr>
        <p:txBody>
          <a:bodyPr wrap="none" lIns="0" tIns="0" rIns="0" bIns="0" rtlCol="0" anchor="t"/>
          <a:lstStyle/>
          <a:p>
            <a:pPr marL="0" indent="0" algn="ctr">
              <a:lnSpc>
                <a:spcPts val="3100"/>
              </a:lnSpc>
              <a:buNone/>
            </a:pPr>
            <a:r>
              <a:rPr lang="en-US" sz="1950" b="1" dirty="0">
                <a:solidFill>
                  <a:srgbClr val="F4CAB8"/>
                </a:solidFill>
                <a:latin typeface="Brygada 1918 Bold" pitchFamily="34" charset="0"/>
                <a:ea typeface="Brygada 1918 Bold" pitchFamily="34" charset="-122"/>
                <a:cs typeface="Brygada 1918 Bold" pitchFamily="34" charset="-120"/>
              </a:rPr>
              <a:t>1</a:t>
            </a:r>
            <a:endParaRPr lang="en-US" sz="1950" dirty="0"/>
          </a:p>
        </p:txBody>
      </p:sp>
      <p:sp>
        <p:nvSpPr>
          <p:cNvPr id="5" name="Text 2"/>
          <p:cNvSpPr/>
          <p:nvPr/>
        </p:nvSpPr>
        <p:spPr>
          <a:xfrm>
            <a:off x="5297805" y="1971318"/>
            <a:ext cx="2660094" cy="332423"/>
          </a:xfrm>
          <a:prstGeom prst="rect">
            <a:avLst/>
          </a:prstGeom>
          <a:noFill/>
          <a:ln/>
        </p:spPr>
        <p:txBody>
          <a:bodyPr wrap="none" lIns="0" tIns="0" rIns="0" bIns="0" rtlCol="0" anchor="t"/>
          <a:lstStyle/>
          <a:p>
            <a:pPr marL="0" indent="0" algn="l">
              <a:lnSpc>
                <a:spcPts val="2600"/>
              </a:lnSpc>
              <a:buNone/>
            </a:pPr>
            <a:r>
              <a:rPr lang="en-US" sz="2050" b="1" dirty="0">
                <a:solidFill>
                  <a:srgbClr val="F4CAB8"/>
                </a:solidFill>
                <a:latin typeface="Brygada 1918 Bold" pitchFamily="34" charset="0"/>
                <a:ea typeface="Brygada 1918 Bold" pitchFamily="34" charset="-122"/>
                <a:cs typeface="Brygada 1918 Bold" pitchFamily="34" charset="-120"/>
              </a:rPr>
              <a:t>Ночь и туман</a:t>
            </a:r>
            <a:endParaRPr lang="en-US" sz="2050" dirty="0"/>
          </a:p>
        </p:txBody>
      </p:sp>
      <p:sp>
        <p:nvSpPr>
          <p:cNvPr id="6" name="Text 3"/>
          <p:cNvSpPr/>
          <p:nvPr/>
        </p:nvSpPr>
        <p:spPr>
          <a:xfrm>
            <a:off x="5297805" y="2423398"/>
            <a:ext cx="8434983" cy="638413"/>
          </a:xfrm>
          <a:prstGeom prst="rect">
            <a:avLst/>
          </a:prstGeom>
          <a:noFill/>
          <a:ln/>
        </p:spPr>
        <p:txBody>
          <a:bodyPr wrap="square" lIns="0" tIns="0" rIns="0" bIns="0" rtlCol="0" anchor="t"/>
          <a:lstStyle/>
          <a:p>
            <a:pPr marL="0" indent="0" algn="l">
              <a:lnSpc>
                <a:spcPts val="2500"/>
              </a:lnSpc>
              <a:buNone/>
            </a:pPr>
            <a:r>
              <a:rPr lang="en-US" sz="1550" dirty="0">
                <a:solidFill>
                  <a:srgbClr val="F4CAB8"/>
                </a:solidFill>
                <a:latin typeface="Montserrat Medium" pitchFamily="34" charset="0"/>
                <a:ea typeface="Montserrat Medium" pitchFamily="34" charset="-122"/>
                <a:cs typeface="Montserrat Medium" pitchFamily="34" charset="-120"/>
              </a:rPr>
              <a:t>Секретная отправка политических оппонентов в концентрационные лагеря в Германии.</a:t>
            </a:r>
            <a:endParaRPr lang="en-US" sz="1550" dirty="0"/>
          </a:p>
        </p:txBody>
      </p:sp>
      <p:sp>
        <p:nvSpPr>
          <p:cNvPr id="7" name="Shape 4"/>
          <p:cNvSpPr/>
          <p:nvPr/>
        </p:nvSpPr>
        <p:spPr>
          <a:xfrm>
            <a:off x="5148143" y="3276600"/>
            <a:ext cx="8734306" cy="11430"/>
          </a:xfrm>
          <a:prstGeom prst="roundRect">
            <a:avLst>
              <a:gd name="adj" fmla="val 261824"/>
            </a:avLst>
          </a:prstGeom>
          <a:solidFill>
            <a:srgbClr val="662E42"/>
          </a:solidFill>
          <a:ln/>
        </p:spPr>
        <p:txBody>
          <a:bodyPr/>
          <a:lstStyle/>
          <a:p>
            <a:endParaRPr lang="ru-BY"/>
          </a:p>
        </p:txBody>
      </p:sp>
      <p:pic>
        <p:nvPicPr>
          <p:cNvPr id="8" name="Image 1" descr="preencoded.png"/>
          <p:cNvPicPr>
            <a:picLocks noChangeAspect="1"/>
          </p:cNvPicPr>
          <p:nvPr/>
        </p:nvPicPr>
        <p:blipFill>
          <a:blip r:embed="rId4"/>
          <a:stretch>
            <a:fillRect/>
          </a:stretch>
        </p:blipFill>
        <p:spPr>
          <a:xfrm>
            <a:off x="1822966" y="3311009"/>
            <a:ext cx="4367213" cy="1489353"/>
          </a:xfrm>
          <a:prstGeom prst="rect">
            <a:avLst/>
          </a:prstGeom>
        </p:spPr>
      </p:pic>
      <p:sp>
        <p:nvSpPr>
          <p:cNvPr id="9" name="Text 5"/>
          <p:cNvSpPr/>
          <p:nvPr/>
        </p:nvSpPr>
        <p:spPr>
          <a:xfrm>
            <a:off x="3935492" y="3856077"/>
            <a:ext cx="142161" cy="399098"/>
          </a:xfrm>
          <a:prstGeom prst="rect">
            <a:avLst/>
          </a:prstGeom>
          <a:noFill/>
          <a:ln/>
        </p:spPr>
        <p:txBody>
          <a:bodyPr wrap="none" lIns="0" tIns="0" rIns="0" bIns="0" rtlCol="0" anchor="t"/>
          <a:lstStyle/>
          <a:p>
            <a:pPr marL="0" indent="0" algn="ctr">
              <a:lnSpc>
                <a:spcPts val="3100"/>
              </a:lnSpc>
              <a:buNone/>
            </a:pPr>
            <a:r>
              <a:rPr lang="en-US" sz="1950" b="1" dirty="0">
                <a:solidFill>
                  <a:srgbClr val="F4CAB8"/>
                </a:solidFill>
                <a:latin typeface="Brygada 1918 Bold" pitchFamily="34" charset="0"/>
                <a:ea typeface="Brygada 1918 Bold" pitchFamily="34" charset="-122"/>
                <a:cs typeface="Brygada 1918 Bold" pitchFamily="34" charset="-120"/>
              </a:rPr>
              <a:t>2</a:t>
            </a:r>
            <a:endParaRPr lang="en-US" sz="1950" dirty="0"/>
          </a:p>
        </p:txBody>
      </p:sp>
      <p:sp>
        <p:nvSpPr>
          <p:cNvPr id="10" name="Text 6"/>
          <p:cNvSpPr/>
          <p:nvPr/>
        </p:nvSpPr>
        <p:spPr>
          <a:xfrm>
            <a:off x="6389608" y="3510439"/>
            <a:ext cx="2660094" cy="332423"/>
          </a:xfrm>
          <a:prstGeom prst="rect">
            <a:avLst/>
          </a:prstGeom>
          <a:noFill/>
          <a:ln/>
        </p:spPr>
        <p:txBody>
          <a:bodyPr wrap="none" lIns="0" tIns="0" rIns="0" bIns="0" rtlCol="0" anchor="t"/>
          <a:lstStyle/>
          <a:p>
            <a:pPr marL="0" indent="0" algn="l">
              <a:lnSpc>
                <a:spcPts val="2600"/>
              </a:lnSpc>
              <a:buNone/>
            </a:pPr>
            <a:r>
              <a:rPr lang="en-US" sz="2050" b="1" dirty="0">
                <a:solidFill>
                  <a:srgbClr val="F4CAB8"/>
                </a:solidFill>
                <a:latin typeface="Brygada 1918 Bold" pitchFamily="34" charset="0"/>
                <a:ea typeface="Brygada 1918 Bold" pitchFamily="34" charset="-122"/>
                <a:cs typeface="Brygada 1918 Bold" pitchFamily="34" charset="-120"/>
              </a:rPr>
              <a:t>Заложники</a:t>
            </a:r>
            <a:endParaRPr lang="en-US" sz="2050" dirty="0"/>
          </a:p>
        </p:txBody>
      </p:sp>
      <p:sp>
        <p:nvSpPr>
          <p:cNvPr id="11" name="Text 7"/>
          <p:cNvSpPr/>
          <p:nvPr/>
        </p:nvSpPr>
        <p:spPr>
          <a:xfrm>
            <a:off x="6389608" y="3962519"/>
            <a:ext cx="7343180" cy="638413"/>
          </a:xfrm>
          <a:prstGeom prst="rect">
            <a:avLst/>
          </a:prstGeom>
          <a:noFill/>
          <a:ln/>
        </p:spPr>
        <p:txBody>
          <a:bodyPr wrap="square" lIns="0" tIns="0" rIns="0" bIns="0" rtlCol="0" anchor="t"/>
          <a:lstStyle/>
          <a:p>
            <a:pPr marL="0" indent="0" algn="l">
              <a:lnSpc>
                <a:spcPts val="2500"/>
              </a:lnSpc>
              <a:buNone/>
            </a:pPr>
            <a:r>
              <a:rPr lang="en-US" sz="1550" dirty="0">
                <a:solidFill>
                  <a:srgbClr val="F4CAB8"/>
                </a:solidFill>
                <a:latin typeface="Montserrat Medium" pitchFamily="34" charset="0"/>
                <a:ea typeface="Montserrat Medium" pitchFamily="34" charset="-122"/>
                <a:cs typeface="Montserrat Medium" pitchFamily="34" charset="-120"/>
              </a:rPr>
              <a:t>Расстрел невинных гражданских лиц в качестве мести за акты сопротивления.</a:t>
            </a:r>
            <a:endParaRPr lang="en-US" sz="1550" dirty="0"/>
          </a:p>
        </p:txBody>
      </p:sp>
      <p:sp>
        <p:nvSpPr>
          <p:cNvPr id="12" name="Shape 8"/>
          <p:cNvSpPr/>
          <p:nvPr/>
        </p:nvSpPr>
        <p:spPr>
          <a:xfrm>
            <a:off x="6239947" y="4815721"/>
            <a:ext cx="7642503" cy="11430"/>
          </a:xfrm>
          <a:prstGeom prst="roundRect">
            <a:avLst>
              <a:gd name="adj" fmla="val 261824"/>
            </a:avLst>
          </a:prstGeom>
          <a:solidFill>
            <a:srgbClr val="662E42"/>
          </a:solidFill>
          <a:ln/>
        </p:spPr>
        <p:txBody>
          <a:bodyPr/>
          <a:lstStyle/>
          <a:p>
            <a:endParaRPr lang="ru-BY"/>
          </a:p>
        </p:txBody>
      </p:sp>
      <p:pic>
        <p:nvPicPr>
          <p:cNvPr id="13" name="Image 2" descr="preencoded.png"/>
          <p:cNvPicPr>
            <a:picLocks noChangeAspect="1"/>
          </p:cNvPicPr>
          <p:nvPr/>
        </p:nvPicPr>
        <p:blipFill>
          <a:blip r:embed="rId5"/>
          <a:stretch>
            <a:fillRect/>
          </a:stretch>
        </p:blipFill>
        <p:spPr>
          <a:xfrm>
            <a:off x="731163" y="4850130"/>
            <a:ext cx="6550819" cy="1489353"/>
          </a:xfrm>
          <a:prstGeom prst="rect">
            <a:avLst/>
          </a:prstGeom>
        </p:spPr>
      </p:pic>
      <p:sp>
        <p:nvSpPr>
          <p:cNvPr id="14" name="Text 9"/>
          <p:cNvSpPr/>
          <p:nvPr/>
        </p:nvSpPr>
        <p:spPr>
          <a:xfrm>
            <a:off x="3930372" y="5395198"/>
            <a:ext cx="152162" cy="399098"/>
          </a:xfrm>
          <a:prstGeom prst="rect">
            <a:avLst/>
          </a:prstGeom>
          <a:noFill/>
          <a:ln/>
        </p:spPr>
        <p:txBody>
          <a:bodyPr wrap="none" lIns="0" tIns="0" rIns="0" bIns="0" rtlCol="0" anchor="t"/>
          <a:lstStyle/>
          <a:p>
            <a:pPr marL="0" indent="0" algn="ctr">
              <a:lnSpc>
                <a:spcPts val="3100"/>
              </a:lnSpc>
              <a:buNone/>
            </a:pPr>
            <a:r>
              <a:rPr lang="en-US" sz="1950" b="1" dirty="0">
                <a:solidFill>
                  <a:srgbClr val="F4CAB8"/>
                </a:solidFill>
                <a:latin typeface="Brygada 1918 Bold" pitchFamily="34" charset="0"/>
                <a:ea typeface="Brygada 1918 Bold" pitchFamily="34" charset="-122"/>
                <a:cs typeface="Brygada 1918 Bold" pitchFamily="34" charset="-120"/>
              </a:rPr>
              <a:t>3</a:t>
            </a:r>
            <a:endParaRPr lang="en-US" sz="1950" dirty="0"/>
          </a:p>
        </p:txBody>
      </p:sp>
      <p:sp>
        <p:nvSpPr>
          <p:cNvPr id="15" name="Text 10"/>
          <p:cNvSpPr/>
          <p:nvPr/>
        </p:nvSpPr>
        <p:spPr>
          <a:xfrm>
            <a:off x="7481411" y="5049560"/>
            <a:ext cx="2660094" cy="332423"/>
          </a:xfrm>
          <a:prstGeom prst="rect">
            <a:avLst/>
          </a:prstGeom>
          <a:noFill/>
          <a:ln/>
        </p:spPr>
        <p:txBody>
          <a:bodyPr wrap="none" lIns="0" tIns="0" rIns="0" bIns="0" rtlCol="0" anchor="t"/>
          <a:lstStyle/>
          <a:p>
            <a:pPr marL="0" indent="0" algn="l">
              <a:lnSpc>
                <a:spcPts val="2600"/>
              </a:lnSpc>
              <a:buNone/>
            </a:pPr>
            <a:r>
              <a:rPr lang="en-US" sz="2050" b="1" dirty="0">
                <a:solidFill>
                  <a:srgbClr val="F4CAB8"/>
                </a:solidFill>
                <a:latin typeface="Brygada 1918 Bold" pitchFamily="34" charset="0"/>
                <a:ea typeface="Brygada 1918 Bold" pitchFamily="34" charset="-122"/>
                <a:cs typeface="Brygada 1918 Bold" pitchFamily="34" charset="-120"/>
              </a:rPr>
              <a:t>Пытки</a:t>
            </a:r>
            <a:endParaRPr lang="en-US" sz="2050" dirty="0"/>
          </a:p>
        </p:txBody>
      </p:sp>
      <p:sp>
        <p:nvSpPr>
          <p:cNvPr id="16" name="Text 11"/>
          <p:cNvSpPr/>
          <p:nvPr/>
        </p:nvSpPr>
        <p:spPr>
          <a:xfrm>
            <a:off x="7481411" y="5501640"/>
            <a:ext cx="6251377" cy="638413"/>
          </a:xfrm>
          <a:prstGeom prst="rect">
            <a:avLst/>
          </a:prstGeom>
          <a:noFill/>
          <a:ln/>
        </p:spPr>
        <p:txBody>
          <a:bodyPr wrap="square" lIns="0" tIns="0" rIns="0" bIns="0" rtlCol="0" anchor="t"/>
          <a:lstStyle/>
          <a:p>
            <a:pPr marL="0" indent="0" algn="l">
              <a:lnSpc>
                <a:spcPts val="2500"/>
              </a:lnSpc>
              <a:buNone/>
            </a:pPr>
            <a:r>
              <a:rPr lang="en-US" sz="1550" dirty="0">
                <a:solidFill>
                  <a:srgbClr val="F4CAB8"/>
                </a:solidFill>
                <a:latin typeface="Montserrat Medium" pitchFamily="34" charset="0"/>
                <a:ea typeface="Montserrat Medium" pitchFamily="34" charset="-122"/>
                <a:cs typeface="Montserrat Medium" pitchFamily="34" charset="-120"/>
              </a:rPr>
              <a:t>Применялись для получения информации от бойцов сопротивления.</a:t>
            </a:r>
            <a:endParaRPr lang="en-US" sz="1550" dirty="0"/>
          </a:p>
        </p:txBody>
      </p:sp>
      <p:sp>
        <p:nvSpPr>
          <p:cNvPr id="17" name="Text 12"/>
          <p:cNvSpPr/>
          <p:nvPr/>
        </p:nvSpPr>
        <p:spPr>
          <a:xfrm>
            <a:off x="698183" y="6563916"/>
            <a:ext cx="13234035" cy="957620"/>
          </a:xfrm>
          <a:prstGeom prst="rect">
            <a:avLst/>
          </a:prstGeom>
          <a:noFill/>
          <a:ln/>
        </p:spPr>
        <p:txBody>
          <a:bodyPr wrap="square" lIns="0" tIns="0" rIns="0" bIns="0" rtlCol="0" anchor="t"/>
          <a:lstStyle/>
          <a:p>
            <a:pPr marL="0" indent="0">
              <a:lnSpc>
                <a:spcPts val="2500"/>
              </a:lnSpc>
              <a:buNone/>
            </a:pPr>
            <a:r>
              <a:rPr lang="en-US" sz="1550" dirty="0">
                <a:solidFill>
                  <a:srgbClr val="F4CAB8"/>
                </a:solidFill>
                <a:latin typeface="Montserrat Medium" pitchFamily="34" charset="0"/>
                <a:ea typeface="Montserrat Medium" pitchFamily="34" charset="-122"/>
                <a:cs typeface="Montserrat Medium" pitchFamily="34" charset="-120"/>
              </a:rPr>
              <a:t>Рост вооруженного сопротивления привел к увеличению числа жертв среди гражданского населения. Немцы казнили 30 000 французских заложников и 45 000 в Греции. Захваченных бойцов сопротивления пытали и казнили. Политика «Ночь и туман» предполагала тайную отправку политических оппонентов в концентрационные лагеря.</a:t>
            </a:r>
            <a:endParaRPr lang="en-US" sz="1550" dirty="0"/>
          </a:p>
        </p:txBody>
      </p:sp>
      <p:pic>
        <p:nvPicPr>
          <p:cNvPr id="19" name="Рисунок 18">
            <a:extLst>
              <a:ext uri="{FF2B5EF4-FFF2-40B4-BE49-F238E27FC236}">
                <a16:creationId xmlns:a16="http://schemas.microsoft.com/office/drawing/2014/main" id="{56C7C308-FB5B-48DF-B628-FB26C52731C1}"/>
              </a:ext>
            </a:extLst>
          </p:cNvPr>
          <p:cNvPicPr>
            <a:picLocks noChangeAspect="1"/>
          </p:cNvPicPr>
          <p:nvPr/>
        </p:nvPicPr>
        <p:blipFill>
          <a:blip r:embed="rId6"/>
          <a:stretch>
            <a:fillRect/>
          </a:stretch>
        </p:blipFill>
        <p:spPr>
          <a:xfrm>
            <a:off x="12725134" y="7515125"/>
            <a:ext cx="1905266" cy="7144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49260" y="853797"/>
            <a:ext cx="7516773" cy="713542"/>
          </a:xfrm>
          <a:prstGeom prst="rect">
            <a:avLst/>
          </a:prstGeom>
          <a:noFill/>
          <a:ln/>
        </p:spPr>
        <p:txBody>
          <a:bodyPr wrap="none" lIns="0" tIns="0" rIns="0" bIns="0" rtlCol="0" anchor="t"/>
          <a:lstStyle/>
          <a:p>
            <a:pPr marL="0" indent="0">
              <a:lnSpc>
                <a:spcPts val="5600"/>
              </a:lnSpc>
              <a:buNone/>
            </a:pPr>
            <a:r>
              <a:rPr lang="en-US" sz="4450" b="1" dirty="0">
                <a:solidFill>
                  <a:srgbClr val="FFB393"/>
                </a:solidFill>
                <a:latin typeface="Brygada 1918 Bold" pitchFamily="34" charset="0"/>
                <a:ea typeface="Brygada 1918 Bold" pitchFamily="34" charset="-122"/>
                <a:cs typeface="Brygada 1918 Bold" pitchFamily="34" charset="-120"/>
              </a:rPr>
              <a:t>Движение Сопротивления</a:t>
            </a:r>
            <a:endParaRPr lang="en-US" sz="4450" dirty="0"/>
          </a:p>
        </p:txBody>
      </p:sp>
      <p:pic>
        <p:nvPicPr>
          <p:cNvPr id="3" name="Image 0" descr="preencoded.png"/>
          <p:cNvPicPr>
            <a:picLocks noChangeAspect="1"/>
          </p:cNvPicPr>
          <p:nvPr/>
        </p:nvPicPr>
        <p:blipFill>
          <a:blip r:embed="rId3"/>
          <a:stretch>
            <a:fillRect/>
          </a:stretch>
        </p:blipFill>
        <p:spPr>
          <a:xfrm>
            <a:off x="749260" y="1995488"/>
            <a:ext cx="4163139" cy="2572941"/>
          </a:xfrm>
          <a:prstGeom prst="rect">
            <a:avLst/>
          </a:prstGeom>
        </p:spPr>
      </p:pic>
      <p:sp>
        <p:nvSpPr>
          <p:cNvPr id="4" name="Text 1"/>
          <p:cNvSpPr/>
          <p:nvPr/>
        </p:nvSpPr>
        <p:spPr>
          <a:xfrm>
            <a:off x="749260" y="4835962"/>
            <a:ext cx="3909655" cy="356830"/>
          </a:xfrm>
          <a:prstGeom prst="rect">
            <a:avLst/>
          </a:prstGeom>
          <a:noFill/>
          <a:ln/>
        </p:spPr>
        <p:txBody>
          <a:bodyPr wrap="none" lIns="0" tIns="0" rIns="0" bIns="0" rtlCol="0" anchor="t"/>
          <a:lstStyle/>
          <a:p>
            <a:pPr marL="0" indent="0" algn="l">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Ненасильственные методы</a:t>
            </a:r>
            <a:endParaRPr lang="en-US" sz="2200" dirty="0"/>
          </a:p>
        </p:txBody>
      </p:sp>
      <p:sp>
        <p:nvSpPr>
          <p:cNvPr id="5" name="Text 2"/>
          <p:cNvSpPr/>
          <p:nvPr/>
        </p:nvSpPr>
        <p:spPr>
          <a:xfrm>
            <a:off x="749260" y="5321141"/>
            <a:ext cx="4163139" cy="2054543"/>
          </a:xfrm>
          <a:prstGeom prst="rect">
            <a:avLst/>
          </a:prstGeom>
          <a:noFill/>
          <a:ln/>
        </p:spPr>
        <p:txBody>
          <a:bodyPr wrap="square" lIns="0" tIns="0" rIns="0" bIns="0" rtlCol="0" anchor="t"/>
          <a:lstStyle/>
          <a:p>
            <a:pPr marL="0" indent="0" algn="l">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Жители Нидерландов поднимали шляпы при оранжевом свете, датские студенты носили шапки цветов Королевских ВВС. Люди саботировали производство и распространяли газеты.</a:t>
            </a:r>
            <a:endParaRPr lang="en-US" sz="1650" dirty="0"/>
          </a:p>
        </p:txBody>
      </p:sp>
      <p:sp>
        <p:nvSpPr>
          <p:cNvPr id="7" name="Text 3"/>
          <p:cNvSpPr/>
          <p:nvPr/>
        </p:nvSpPr>
        <p:spPr>
          <a:xfrm>
            <a:off x="5233511" y="4836081"/>
            <a:ext cx="2854643" cy="356830"/>
          </a:xfrm>
          <a:prstGeom prst="rect">
            <a:avLst/>
          </a:prstGeom>
          <a:noFill/>
          <a:ln/>
        </p:spPr>
        <p:txBody>
          <a:bodyPr wrap="none" lIns="0" tIns="0" rIns="0" bIns="0" rtlCol="0" anchor="t"/>
          <a:lstStyle/>
          <a:p>
            <a:pPr marL="0" indent="0" algn="l">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Подпольные газеты</a:t>
            </a:r>
            <a:endParaRPr lang="en-US" sz="2200" dirty="0"/>
          </a:p>
        </p:txBody>
      </p:sp>
      <p:sp>
        <p:nvSpPr>
          <p:cNvPr id="8" name="Text 4"/>
          <p:cNvSpPr/>
          <p:nvPr/>
        </p:nvSpPr>
        <p:spPr>
          <a:xfrm>
            <a:off x="5233511" y="5321260"/>
            <a:ext cx="4163258" cy="1369695"/>
          </a:xfrm>
          <a:prstGeom prst="rect">
            <a:avLst/>
          </a:prstGeom>
          <a:noFill/>
          <a:ln/>
        </p:spPr>
        <p:txBody>
          <a:bodyPr wrap="square" lIns="0" tIns="0" rIns="0" bIns="0" rtlCol="0" anchor="t"/>
          <a:lstStyle/>
          <a:p>
            <a:pPr marL="0" indent="0" algn="l">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Написание и распространение газет было одним из самых важных видов сопротивления. В Дании было 315 газет.</a:t>
            </a:r>
            <a:endParaRPr lang="en-US" sz="1650" dirty="0"/>
          </a:p>
        </p:txBody>
      </p:sp>
      <p:pic>
        <p:nvPicPr>
          <p:cNvPr id="9" name="Image 2" descr="preencoded.png"/>
          <p:cNvPicPr>
            <a:picLocks noChangeAspect="1"/>
          </p:cNvPicPr>
          <p:nvPr/>
        </p:nvPicPr>
        <p:blipFill>
          <a:blip r:embed="rId4"/>
          <a:stretch>
            <a:fillRect/>
          </a:stretch>
        </p:blipFill>
        <p:spPr>
          <a:xfrm>
            <a:off x="9717881" y="1995488"/>
            <a:ext cx="4163258" cy="2573060"/>
          </a:xfrm>
          <a:prstGeom prst="rect">
            <a:avLst/>
          </a:prstGeom>
        </p:spPr>
      </p:pic>
      <p:sp>
        <p:nvSpPr>
          <p:cNvPr id="10" name="Text 5"/>
          <p:cNvSpPr/>
          <p:nvPr/>
        </p:nvSpPr>
        <p:spPr>
          <a:xfrm>
            <a:off x="9717881" y="4836081"/>
            <a:ext cx="2854643" cy="356830"/>
          </a:xfrm>
          <a:prstGeom prst="rect">
            <a:avLst/>
          </a:prstGeom>
          <a:noFill/>
          <a:ln/>
        </p:spPr>
        <p:txBody>
          <a:bodyPr wrap="none" lIns="0" tIns="0" rIns="0" bIns="0" rtlCol="0" anchor="t"/>
          <a:lstStyle/>
          <a:p>
            <a:pPr marL="0" indent="0" algn="l">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Гражданская война</a:t>
            </a:r>
            <a:endParaRPr lang="en-US" sz="2200" dirty="0"/>
          </a:p>
        </p:txBody>
      </p:sp>
      <p:sp>
        <p:nvSpPr>
          <p:cNvPr id="11" name="Text 6"/>
          <p:cNvSpPr/>
          <p:nvPr/>
        </p:nvSpPr>
        <p:spPr>
          <a:xfrm>
            <a:off x="9717881" y="5321260"/>
            <a:ext cx="4163258" cy="2054543"/>
          </a:xfrm>
          <a:prstGeom prst="rect">
            <a:avLst/>
          </a:prstGeom>
          <a:noFill/>
          <a:ln/>
        </p:spPr>
        <p:txBody>
          <a:bodyPr wrap="square" lIns="0" tIns="0" rIns="0" bIns="0" rtlCol="0" anchor="t"/>
          <a:lstStyle/>
          <a:p>
            <a:pPr marL="0" indent="0" algn="l">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Сопротивление было не только войной против немцев, но и против тех, кто их поддерживал. Европейское движение сопротивления включало гражданскую войну внутри стран.</a:t>
            </a:r>
            <a:endParaRPr lang="en-US" sz="1650" dirty="0"/>
          </a:p>
        </p:txBody>
      </p:sp>
      <p:pic>
        <p:nvPicPr>
          <p:cNvPr id="13" name="Рисунок 12">
            <a:extLst>
              <a:ext uri="{FF2B5EF4-FFF2-40B4-BE49-F238E27FC236}">
                <a16:creationId xmlns:a16="http://schemas.microsoft.com/office/drawing/2014/main" id="{CDF8CA37-FD78-4A2C-80E9-C75005664748}"/>
              </a:ext>
            </a:extLst>
          </p:cNvPr>
          <p:cNvPicPr>
            <a:picLocks noChangeAspect="1"/>
          </p:cNvPicPr>
          <p:nvPr/>
        </p:nvPicPr>
        <p:blipFill>
          <a:blip r:embed="rId5"/>
          <a:stretch>
            <a:fillRect/>
          </a:stretch>
        </p:blipFill>
        <p:spPr>
          <a:xfrm>
            <a:off x="12725134" y="7504152"/>
            <a:ext cx="1905266" cy="714475"/>
          </a:xfrm>
          <a:prstGeom prst="rect">
            <a:avLst/>
          </a:prstGeom>
        </p:spPr>
      </p:pic>
      <p:pic>
        <p:nvPicPr>
          <p:cNvPr id="1026" name="Picture 2" descr="Движение сопротивления | это... Что такое Движение сопротивления?">
            <a:extLst>
              <a:ext uri="{FF2B5EF4-FFF2-40B4-BE49-F238E27FC236}">
                <a16:creationId xmlns:a16="http://schemas.microsoft.com/office/drawing/2014/main" id="{D66078BE-0750-D78D-613E-994FF2C2CD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73640" y="1995489"/>
            <a:ext cx="3683000" cy="25730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791</Words>
  <Application>Microsoft Office PowerPoint</Application>
  <PresentationFormat>Произвольный</PresentationFormat>
  <Paragraphs>86</Paragraphs>
  <Slides>10</Slides>
  <Notes>10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10</vt:i4>
      </vt:variant>
    </vt:vector>
  </HeadingPairs>
  <TitlesOfParts>
    <vt:vector size="14" baseType="lpstr">
      <vt:lpstr>Brygada 1918 Bold</vt:lpstr>
      <vt:lpstr>Montserrat Medium</vt:lpstr>
      <vt:lpstr>Arial</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Ilya Politiko</cp:lastModifiedBy>
  <cp:revision>5</cp:revision>
  <dcterms:created xsi:type="dcterms:W3CDTF">2025-02-28T17:55:52Z</dcterms:created>
  <dcterms:modified xsi:type="dcterms:W3CDTF">2025-02-28T21:35:39Z</dcterms:modified>
</cp:coreProperties>
</file>